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15992697-04da-e044-c901-b54bf8acef0b}">
          <p14:sldIdLst>
            <p14:sldId id="256"/>
          </p14:sldIdLst>
        </p14:section>
        <p14:section name="La idea" id="{bdbbf744-d971-72f5-7b1f-793645166178}">
          <p14:sldIdLst>
            <p14:sldId id="257"/>
          </p14:sldIdLst>
        </p14:section>
        <p14:section name="Demostración" id="{9262d0c2-ea36-1be3-9c54-40ff437cdf60}">
          <p14:sldIdLst>
            <p14:sldId id="258"/>
            <p14:sldId id="259"/>
          </p14:sldIdLst>
        </p14:section>
        <p14:section name="Cómo está hecho" id="{2aaf6799-67ec-b1d4-c44a-2a14cf1881d8}">
          <p14:sldIdLst>
            <p14:sldId id="260"/>
            <p14:sldId id="261"/>
            <p14:sldId id="262"/>
          </p14:sldIdLst>
        </p14:section>
        <p14:section name="Open source" id="{0e17f3ea-05ff-db32-1078-1e3597b0292a}">
          <p14:sldIdLst>
            <p14:sldId id="263"/>
            <p14:sldId id="264"/>
          </p14:sldIdLst>
        </p14:section>
        <p14:section name="Cierre" id="{5be8a5bd-c7fa-41f4-1718-c261ac4151d5}">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tardes. Soy Andreea y voy a presentar NotifyHub, el proyecto que construimos José Raúl y yo en conjunto para Arquitectura de Software. NotifyHub es un servicio que manda notificaciones por correo, SMS, push y webhook, y se asegura de que lleguen: si un canal falla, el sistema prueba otro solo. El logo cuenta esa idea: una ruta principal y una de respaldo que llegan al mismo destino. Dura unos ocho minutos y termina con una demostración.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idea que ordena todo el proyecto es un mapa de metro. Cada canal es una línea de color, cada proveedor es una estación y cada intento es una parada. Cuando un canal agota sus reintentos, el mensaje hace un transbordo a otro canal, y ese transbordo es lo único que pintamos en naranja. En el ejemplo de la derecha, un push falla tres veces con error 503, el sistema hace el transbordo a SMS y el mensaje se entrega. Quien lo recibe nunca nota el fallo.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consola web. El Resumen abre con el mapa de rutas: cada línea es un canal y los puntos son las estaciones, desde que se recibe el mensaje hasta que se entrega. La línea punteada naranja son los envíos que cambiaron de canal porque el primero falló. Si un proveedor está caído o degradado, se marca ahí mismo. Estas cifras no son un dibujo: salen de la API real y se actualizan solas. [Aquí se puede pasar a la demostración en vivo.]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está la ruta de un mensaje real. Es un push de oferta que mandamos desde la consola con Firebase marcado como caído. El sistema lo intenta tres veces con espera creciente y cada intento falla con un 503. Entonces hace el transbordo a SMS, Twilio lo acepta y el mensaje se entrega. Todo esto lo guarda la bitácora con su hora exacta. Los tiempos que ven son de una ejecución real: de la solicitud a la entrega pasaron cuatro segundos y medio.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está hecho. El cliente, ya sea la consola o el SDK, llama a la API, que es un Worker de Cloudflare. La API valida la solicitud, la guarda en Postgres y la pone en una cola según su prioridad. Otro Worker, el despachador, toma el mensaje de la cola, decide con qué proveedor enviarlo, reintenta y hace el fallback cuando hace falta. Cada intento queda registrado. Un Durable Object lleva el límite de solicitudes por cliente. Todo cabe en el plan gratuito de Cloudflare, y el código está en capas: dominio, aplicación y adaptadores.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proyecto gira en torno a cuatro patrones de diseño. Factory Method: cada proveedor tiene su creador, y agregar uno nuevo es registrar un creador. Template Method: una clase base define los pasos de un envío y cada proveedor solo implementa su llamada. Strategy: tres formas de ordenar los proveedores, por costo, por prioridad o por disponibilidad, y se elige según la prioridad del mensaje. Y Observer: se publica cada cambio de estado, y si un suscriptor falla, el envío no se entera.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dentro, el fallback es una máquina de estados. Una notificación pasa de recibida a en cola, a enviando. Si el proveedor falla, pasa a reintentando, espera y vuelve a enviando, hasta tres veces. Si se agotan, pasa a fallback y vuelve a enviando con el siguiente canal. Si algún canal entrega, termina entregada; si no queda ninguno, termina fallida. Con tres canales son hasta nueve intentos. Y las transiciones inválidas son imposibles: el dominio las rechaza y las pruebas lo verifican.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Además de la aplicación, dejamos dos paquetes reutilizables. El SDK de TypeScript, sin dependencias, sirve para crear notificaciones y consultar su ruta desde cualquier programa. Y los componentes de React dibujan la ruta del mensaje con la misma identidad visual. La consola que acabamos de ver está hecha con esos dos paquetes. Están pensados como código abierto con licencia MIT y tienen cuarenta y cinco pruebas automáticas. Todavía no los publicamos en npm ni hacemos público el repositorio: falta que el equipo lo decida.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Quiero ser clara con lo que es real y lo que no. Es real la recepción con idempotencia y límite de solicitudes, las colas, la máquina de estados, los reintentos, el fallback, la bitácora en Postgres, la API, el SDK y la consola. Lo simulado son los proveedores: SendGrid, Twilio, Firebase y el webhook responden según su salud, para poder demostrar el fallback sin credenciales de pago. Falta conectar los proveedores reales, el outbox con suscripciones por webhook y el circuito de corte. Tenemos ciento cuarenta y ocho pruebas automáticas y revisamos que no haya secretos en el historial.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sigue: en el Sprint 2 conectamos los proveedores reales; en el Sprint 3, el circuito de corte y la revisión de salud; y en el Sprint 4, el outbox, las suscripciones por webhook, las pruebas de carga y la entrega final el cuatro de diciembre. En paralelo, el equipo decidirá cuándo hacer público el repositorio y publicar los paquetes.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Eso es NotifyHub: un mensaje que siempre llega, porque tiene una ruta de respaldo. Gracias por su atención. Estoy a sus órdenes para las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tx2"/>
                </a:solidFill>
              </a:rPr>
              <a:t>NotifyHub · Presenta Andreea Margarita Maldonado Morales</a:t>
            </a:r>
            <a:endParaRPr lang="en-US" sz="1000" dirty="0"/>
          </a:p>
        </p:txBody>
      </p:sp>
      <p:sp>
        <p:nvSpPr>
          <p:cNvPr id="3" name="Text 1"/>
          <p:cNvSpPr/>
          <p:nvPr>
            <p:ph idx="101" type="title" hasCustomPrompt="1"/>
          </p:nvPr>
        </p:nvSpPr>
        <p:spPr>
          <a:xfrm>
            <a:off x="548640" y="365760"/>
            <a:ext cx="11064240" cy="86868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Logo de NotifyHub: una ruta principal y una de respaldo que llegan al mismo destino">    </p:cNvPr>
          <p:cNvPicPr>
            <a:picLocks noChangeAspect="1"/>
          </p:cNvPicPr>
          <p:nvPr/>
        </p:nvPicPr>
        <p:blipFill>
          <a:blip r:embed="rId1"/>
          <a:stretch>
            <a:fillRect/>
          </a:stretch>
        </p:blipFill>
        <p:spPr>
          <a:xfrm>
            <a:off x="731520" y="822960"/>
            <a:ext cx="1280160" cy="1280160"/>
          </a:xfrm>
          <a:prstGeom prst="rect">
            <a:avLst/>
          </a:prstGeom>
        </p:spPr>
      </p:pic>
      <p:sp>
        <p:nvSpPr>
          <p:cNvPr id="3" name="Nombre"/>
          <p:cNvSpPr txBox="1"/>
          <p:nvPr/>
        </p:nvSpPr>
        <p:spPr>
          <a:xfrm>
            <a:off x="731520" y="2240280"/>
            <a:ext cx="7498080" cy="1188720"/>
          </a:xfrm>
          <a:prstGeom prst="rect">
            <a:avLst/>
          </a:prstGeom>
          <a:noFill/>
          <a:ln/>
        </p:spPr>
        <p:txBody>
          <a:bodyPr wrap="square" lIns="0" tIns="0" rIns="0" bIns="0" rtlCol="0" anchor="t"/>
          <a:lstStyle/>
          <a:p>
            <a:pPr indent="0" marL="0">
              <a:buNone/>
            </a:pPr>
            <a:r>
              <a:rPr lang="en-US" sz="7200" b="1" dirty="0">
                <a:solidFill>
                  <a:schemeClr val="bg1"/>
                </a:solidFill>
                <a:latin typeface="Arial" pitchFamily="34" charset="0"/>
                <a:ea typeface="Arial" pitchFamily="34" charset="-122"/>
                <a:cs typeface="Arial" pitchFamily="34" charset="-120"/>
              </a:rPr>
              <a:t>notifyhub</a:t>
            </a:r>
            <a:endParaRPr lang="en-US" sz="7200" dirty="0"/>
          </a:p>
        </p:txBody>
      </p:sp>
      <p:sp>
        <p:nvSpPr>
          <p:cNvPr id="4" name="Lema"/>
          <p:cNvSpPr txBox="1"/>
          <p:nvPr/>
        </p:nvSpPr>
        <p:spPr>
          <a:xfrm>
            <a:off x="731520" y="3474720"/>
            <a:ext cx="7498080" cy="640080"/>
          </a:xfrm>
          <a:prstGeom prst="rect">
            <a:avLst/>
          </a:prstGeom>
          <a:noFill/>
          <a:ln/>
        </p:spPr>
        <p:txBody>
          <a:bodyPr wrap="square" lIns="0" tIns="0" rIns="0" bIns="0" rtlCol="0" anchor="t"/>
          <a:lstStyle/>
          <a:p>
            <a:pPr indent="0" marL="0">
              <a:buNone/>
            </a:pPr>
            <a:r>
              <a:rPr lang="en-US" sz="3200" dirty="0">
                <a:solidFill>
                  <a:schemeClr val="accent1"/>
                </a:solidFill>
              </a:rPr>
              <a:t>Tu mensaje siempre llega</a:t>
            </a:r>
            <a:endParaRPr lang="en-US" sz="3200" dirty="0"/>
          </a:p>
        </p:txBody>
      </p:sp>
      <p:sp>
        <p:nvSpPr>
          <p:cNvPr id="5" name="Descripción"/>
          <p:cNvSpPr txBox="1"/>
          <p:nvPr/>
        </p:nvSpPr>
        <p:spPr>
          <a:xfrm>
            <a:off x="731520" y="4251960"/>
            <a:ext cx="6949440" cy="822960"/>
          </a:xfrm>
          <a:prstGeom prst="rect">
            <a:avLst/>
          </a:prstGeom>
          <a:noFill/>
          <a:ln/>
        </p:spPr>
        <p:txBody>
          <a:bodyPr wrap="square" lIns="0" tIns="0" rIns="0" bIns="0" rtlCol="0" anchor="t"/>
          <a:lstStyle/>
          <a:p>
            <a:pPr indent="0" marL="0">
              <a:buNone/>
            </a:pPr>
            <a:r>
              <a:rPr lang="en-US" sz="1800" dirty="0">
                <a:solidFill>
                  <a:schemeClr val="bg1"/>
                </a:solidFill>
              </a:rPr>
              <a:t>Servicio de notificaciones multicanal con fallback. Proyecto de Arquitectura de Software.</a:t>
            </a:r>
            <a:endParaRPr lang="en-US" sz="1800" dirty="0"/>
          </a:p>
        </p:txBody>
      </p:sp>
      <p:sp>
        <p:nvSpPr>
          <p:cNvPr id="6" name="Presenta"/>
          <p:cNvSpPr txBox="1"/>
          <p:nvPr/>
        </p:nvSpPr>
        <p:spPr>
          <a:xfrm>
            <a:off x="731520" y="5532120"/>
            <a:ext cx="7315200" cy="365760"/>
          </a:xfrm>
          <a:prstGeom prst="rect">
            <a:avLst/>
          </a:prstGeom>
          <a:noFill/>
          <a:ln/>
        </p:spPr>
        <p:txBody>
          <a:bodyPr wrap="square" lIns="0" tIns="0" rIns="0" bIns="0" rtlCol="0" anchor="t"/>
          <a:lstStyle/>
          <a:p>
            <a:pPr indent="0" marL="0">
              <a:buNone/>
            </a:pPr>
            <a:r>
              <a:rPr lang="en-US" sz="2000" b="1" dirty="0">
                <a:solidFill>
                  <a:schemeClr val="bg1"/>
                </a:solidFill>
              </a:rPr>
              <a:t>Presenta: Andreea Margarita Maldonado Morales</a:t>
            </a:r>
            <a:endParaRPr lang="en-US" sz="2000" dirty="0"/>
          </a:p>
        </p:txBody>
      </p:sp>
      <p:sp>
        <p:nvSpPr>
          <p:cNvPr id="7" name="Equipo"/>
          <p:cNvSpPr txBox="1"/>
          <p:nvPr/>
        </p:nvSpPr>
        <p:spPr>
          <a:xfrm>
            <a:off x="731520" y="5943600"/>
            <a:ext cx="7315200" cy="365760"/>
          </a:xfrm>
          <a:prstGeom prst="rect">
            <a:avLst/>
          </a:prstGeom>
          <a:noFill/>
          <a:ln/>
        </p:spPr>
        <p:txBody>
          <a:bodyPr wrap="square" lIns="0" tIns="0" rIns="0" bIns="0" rtlCol="0" anchor="t"/>
          <a:lstStyle/>
          <a:p>
            <a:pPr indent="0" marL="0">
              <a:buNone/>
            </a:pPr>
            <a:r>
              <a:rPr lang="en-US" sz="1600" dirty="0">
                <a:solidFill>
                  <a:schemeClr val="bg1"/>
                </a:solidFill>
              </a:rPr>
              <a:t>Trabajo en conjunto con José Raúl Soriano Cazabal</a:t>
            </a:r>
            <a:endParaRPr lang="en-US" sz="1600" dirty="0"/>
          </a:p>
        </p:txBody>
      </p:sp>
      <p:sp>
        <p:nvSpPr>
          <p:cNvPr id="8" name="Línea Email"/>
          <p:cNvSpPr/>
          <p:nvPr/>
        </p:nvSpPr>
        <p:spPr>
          <a:xfrm>
            <a:off x="8595360" y="1783080"/>
            <a:ext cx="2926080" cy="91440"/>
          </a:xfrm>
          <a:prstGeom prst="roundRect">
            <a:avLst>
              <a:gd name="adj" fmla="val 50000"/>
            </a:avLst>
          </a:prstGeom>
          <a:solidFill>
            <a:schemeClr val="accent2"/>
          </a:solidFill>
          <a:ln w="12700">
            <a:solidFill>
              <a:schemeClr val="accent2"/>
            </a:solidFill>
            <a:prstDash val="solid"/>
          </a:ln>
        </p:spPr>
      </p:sp>
      <p:sp>
        <p:nvSpPr>
          <p:cNvPr id="9" name="Estación Email 1"/>
          <p:cNvSpPr/>
          <p:nvPr/>
        </p:nvSpPr>
        <p:spPr>
          <a:xfrm>
            <a:off x="8467344" y="1700784"/>
            <a:ext cx="256032" cy="256032"/>
          </a:xfrm>
          <a:prstGeom prst="ellipse">
            <a:avLst/>
          </a:prstGeom>
          <a:solidFill>
            <a:schemeClr val="tx1"/>
          </a:solidFill>
          <a:ln w="38100">
            <a:solidFill>
              <a:schemeClr val="accent2"/>
            </a:solidFill>
            <a:prstDash val="solid"/>
          </a:ln>
        </p:spPr>
      </p:sp>
      <p:sp>
        <p:nvSpPr>
          <p:cNvPr id="10" name="Estación Email 2"/>
          <p:cNvSpPr/>
          <p:nvPr/>
        </p:nvSpPr>
        <p:spPr>
          <a:xfrm>
            <a:off x="9930384" y="1700784"/>
            <a:ext cx="256032" cy="256032"/>
          </a:xfrm>
          <a:prstGeom prst="ellipse">
            <a:avLst/>
          </a:prstGeom>
          <a:solidFill>
            <a:schemeClr val="tx1"/>
          </a:solidFill>
          <a:ln w="38100">
            <a:solidFill>
              <a:schemeClr val="accent2"/>
            </a:solidFill>
            <a:prstDash val="solid"/>
          </a:ln>
        </p:spPr>
      </p:sp>
      <p:sp>
        <p:nvSpPr>
          <p:cNvPr id="11" name="Estación Email 3"/>
          <p:cNvSpPr/>
          <p:nvPr/>
        </p:nvSpPr>
        <p:spPr>
          <a:xfrm>
            <a:off x="11393424" y="1700784"/>
            <a:ext cx="256032" cy="256032"/>
          </a:xfrm>
          <a:prstGeom prst="ellipse">
            <a:avLst/>
          </a:prstGeom>
          <a:solidFill>
            <a:schemeClr val="tx1"/>
          </a:solidFill>
          <a:ln w="38100">
            <a:solidFill>
              <a:schemeClr val="accent2"/>
            </a:solidFill>
            <a:prstDash val="solid"/>
          </a:ln>
        </p:spPr>
      </p:sp>
      <p:sp>
        <p:nvSpPr>
          <p:cNvPr id="12" name="Línea SMS"/>
          <p:cNvSpPr/>
          <p:nvPr/>
        </p:nvSpPr>
        <p:spPr>
          <a:xfrm>
            <a:off x="8595360" y="2788920"/>
            <a:ext cx="2926080" cy="91440"/>
          </a:xfrm>
          <a:prstGeom prst="roundRect">
            <a:avLst>
              <a:gd name="adj" fmla="val 50000"/>
            </a:avLst>
          </a:prstGeom>
          <a:solidFill>
            <a:schemeClr val="accent3"/>
          </a:solidFill>
          <a:ln w="12700">
            <a:solidFill>
              <a:schemeClr val="accent3"/>
            </a:solidFill>
            <a:prstDash val="solid"/>
          </a:ln>
        </p:spPr>
      </p:sp>
      <p:sp>
        <p:nvSpPr>
          <p:cNvPr id="13" name="Estación SMS 1"/>
          <p:cNvSpPr/>
          <p:nvPr/>
        </p:nvSpPr>
        <p:spPr>
          <a:xfrm>
            <a:off x="8467344" y="2706624"/>
            <a:ext cx="256032" cy="256032"/>
          </a:xfrm>
          <a:prstGeom prst="ellipse">
            <a:avLst/>
          </a:prstGeom>
          <a:solidFill>
            <a:schemeClr val="tx1"/>
          </a:solidFill>
          <a:ln w="38100">
            <a:solidFill>
              <a:schemeClr val="accent3"/>
            </a:solidFill>
            <a:prstDash val="solid"/>
          </a:ln>
        </p:spPr>
      </p:sp>
      <p:sp>
        <p:nvSpPr>
          <p:cNvPr id="14" name="Estación SMS 2"/>
          <p:cNvSpPr/>
          <p:nvPr/>
        </p:nvSpPr>
        <p:spPr>
          <a:xfrm>
            <a:off x="9930384" y="2706624"/>
            <a:ext cx="256032" cy="256032"/>
          </a:xfrm>
          <a:prstGeom prst="ellipse">
            <a:avLst/>
          </a:prstGeom>
          <a:solidFill>
            <a:schemeClr val="tx1"/>
          </a:solidFill>
          <a:ln w="38100">
            <a:solidFill>
              <a:schemeClr val="accent3"/>
            </a:solidFill>
            <a:prstDash val="solid"/>
          </a:ln>
        </p:spPr>
      </p:sp>
      <p:sp>
        <p:nvSpPr>
          <p:cNvPr id="15" name="Estación SMS 3"/>
          <p:cNvSpPr/>
          <p:nvPr/>
        </p:nvSpPr>
        <p:spPr>
          <a:xfrm>
            <a:off x="11393424" y="2706624"/>
            <a:ext cx="256032" cy="256032"/>
          </a:xfrm>
          <a:prstGeom prst="ellipse">
            <a:avLst/>
          </a:prstGeom>
          <a:solidFill>
            <a:schemeClr val="tx1"/>
          </a:solidFill>
          <a:ln w="38100">
            <a:solidFill>
              <a:schemeClr val="accent3"/>
            </a:solidFill>
            <a:prstDash val="solid"/>
          </a:ln>
        </p:spPr>
      </p:sp>
      <p:sp>
        <p:nvSpPr>
          <p:cNvPr id="16" name="Línea Push"/>
          <p:cNvSpPr/>
          <p:nvPr/>
        </p:nvSpPr>
        <p:spPr>
          <a:xfrm>
            <a:off x="8595360" y="3794760"/>
            <a:ext cx="2926080" cy="91440"/>
          </a:xfrm>
          <a:prstGeom prst="roundRect">
            <a:avLst>
              <a:gd name="adj" fmla="val 50000"/>
            </a:avLst>
          </a:prstGeom>
          <a:solidFill>
            <a:schemeClr val="accent4"/>
          </a:solidFill>
          <a:ln w="12700">
            <a:solidFill>
              <a:schemeClr val="accent4"/>
            </a:solidFill>
            <a:prstDash val="solid"/>
          </a:ln>
        </p:spPr>
      </p:sp>
      <p:sp>
        <p:nvSpPr>
          <p:cNvPr id="17" name="Estación Push 1"/>
          <p:cNvSpPr/>
          <p:nvPr/>
        </p:nvSpPr>
        <p:spPr>
          <a:xfrm>
            <a:off x="8467344" y="3712464"/>
            <a:ext cx="256032" cy="256032"/>
          </a:xfrm>
          <a:prstGeom prst="ellipse">
            <a:avLst/>
          </a:prstGeom>
          <a:solidFill>
            <a:schemeClr val="tx1"/>
          </a:solidFill>
          <a:ln w="38100">
            <a:solidFill>
              <a:schemeClr val="accent4"/>
            </a:solidFill>
            <a:prstDash val="solid"/>
          </a:ln>
        </p:spPr>
      </p:sp>
      <p:sp>
        <p:nvSpPr>
          <p:cNvPr id="18" name="Estación Push 2"/>
          <p:cNvSpPr/>
          <p:nvPr/>
        </p:nvSpPr>
        <p:spPr>
          <a:xfrm>
            <a:off x="9930384" y="3712464"/>
            <a:ext cx="256032" cy="256032"/>
          </a:xfrm>
          <a:prstGeom prst="ellipse">
            <a:avLst/>
          </a:prstGeom>
          <a:solidFill>
            <a:schemeClr val="tx1"/>
          </a:solidFill>
          <a:ln w="38100">
            <a:solidFill>
              <a:schemeClr val="accent4"/>
            </a:solidFill>
            <a:prstDash val="solid"/>
          </a:ln>
        </p:spPr>
      </p:sp>
      <p:sp>
        <p:nvSpPr>
          <p:cNvPr id="19" name="Estación Push 3"/>
          <p:cNvSpPr/>
          <p:nvPr/>
        </p:nvSpPr>
        <p:spPr>
          <a:xfrm>
            <a:off x="11393424" y="3712464"/>
            <a:ext cx="256032" cy="256032"/>
          </a:xfrm>
          <a:prstGeom prst="ellipse">
            <a:avLst/>
          </a:prstGeom>
          <a:solidFill>
            <a:schemeClr val="tx1"/>
          </a:solidFill>
          <a:ln w="38100">
            <a:solidFill>
              <a:schemeClr val="accent4"/>
            </a:solidFill>
            <a:prstDash val="solid"/>
          </a:ln>
        </p:spPr>
      </p:sp>
      <p:sp>
        <p:nvSpPr>
          <p:cNvPr id="20" name="Línea Webhook"/>
          <p:cNvSpPr/>
          <p:nvPr/>
        </p:nvSpPr>
        <p:spPr>
          <a:xfrm>
            <a:off x="8595360" y="4800600"/>
            <a:ext cx="2926080" cy="91440"/>
          </a:xfrm>
          <a:prstGeom prst="roundRect">
            <a:avLst>
              <a:gd name="adj" fmla="val 50000"/>
            </a:avLst>
          </a:prstGeom>
          <a:solidFill>
            <a:schemeClr val="accent5"/>
          </a:solidFill>
          <a:ln w="12700">
            <a:solidFill>
              <a:schemeClr val="accent5"/>
            </a:solidFill>
            <a:prstDash val="solid"/>
          </a:ln>
        </p:spPr>
      </p:sp>
      <p:sp>
        <p:nvSpPr>
          <p:cNvPr id="21" name="Estación Webhook 1"/>
          <p:cNvSpPr/>
          <p:nvPr/>
        </p:nvSpPr>
        <p:spPr>
          <a:xfrm>
            <a:off x="8467344" y="4718304"/>
            <a:ext cx="256032" cy="256032"/>
          </a:xfrm>
          <a:prstGeom prst="ellipse">
            <a:avLst/>
          </a:prstGeom>
          <a:solidFill>
            <a:schemeClr val="tx1"/>
          </a:solidFill>
          <a:ln w="38100">
            <a:solidFill>
              <a:schemeClr val="accent5"/>
            </a:solidFill>
            <a:prstDash val="solid"/>
          </a:ln>
        </p:spPr>
      </p:sp>
      <p:sp>
        <p:nvSpPr>
          <p:cNvPr id="22" name="Estación Webhook 2"/>
          <p:cNvSpPr/>
          <p:nvPr/>
        </p:nvSpPr>
        <p:spPr>
          <a:xfrm>
            <a:off x="9930384" y="4718304"/>
            <a:ext cx="256032" cy="256032"/>
          </a:xfrm>
          <a:prstGeom prst="ellipse">
            <a:avLst/>
          </a:prstGeom>
          <a:solidFill>
            <a:schemeClr val="tx1"/>
          </a:solidFill>
          <a:ln w="38100">
            <a:solidFill>
              <a:schemeClr val="accent5"/>
            </a:solidFill>
            <a:prstDash val="solid"/>
          </a:ln>
        </p:spPr>
      </p:sp>
      <p:sp>
        <p:nvSpPr>
          <p:cNvPr id="23" name="Estación Webhook 3"/>
          <p:cNvSpPr/>
          <p:nvPr/>
        </p:nvSpPr>
        <p:spPr>
          <a:xfrm>
            <a:off x="11393424" y="4718304"/>
            <a:ext cx="256032" cy="256032"/>
          </a:xfrm>
          <a:prstGeom prst="ellipse">
            <a:avLst/>
          </a:prstGeom>
          <a:solidFill>
            <a:schemeClr val="tx1"/>
          </a:solidFill>
          <a:ln w="38100">
            <a:solidFill>
              <a:schemeClr val="accent5"/>
            </a:solidFill>
            <a:prstDash val="solid"/>
          </a:ln>
        </p:spPr>
      </p:sp>
      <p:sp>
        <p:nvSpPr>
          <p:cNvPr id="24" name="Transbordo"/>
          <p:cNvSpPr/>
          <p:nvPr/>
        </p:nvSpPr>
        <p:spPr>
          <a:xfrm>
            <a:off x="10058400" y="3310128"/>
            <a:ext cx="274320" cy="274320"/>
          </a:xfrm>
          <a:prstGeom prst="diamond">
            <a:avLst/>
          </a:prstGeom>
          <a:solidFill>
            <a:schemeClr val="accent1"/>
          </a:solidFill>
          <a:ln w="12700">
            <a:solidFill>
              <a:schemeClr val="accent1"/>
            </a:solidFill>
            <a:prstDash val="solid"/>
          </a:ln>
        </p:spPr>
      </p:sp>
      <p:sp>
        <p:nvSpPr>
          <p:cNvPr id="25" name="Conector de transbordo"/>
          <p:cNvSpPr/>
          <p:nvPr/>
        </p:nvSpPr>
        <p:spPr>
          <a:xfrm>
            <a:off x="10186416" y="2834640"/>
            <a:ext cx="18288" cy="1005840"/>
          </a:xfrm>
          <a:prstGeom prst="line">
            <a:avLst/>
          </a:prstGeom>
          <a:noFill/>
          <a:ln w="38100">
            <a:solidFill>
              <a:schemeClr val="accent1"/>
            </a:solidFill>
            <a:prstDash val="sysDot"/>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Un mapa de metro para tus mensajes</a:t>
            </a:r>
            <a:endParaRPr lang="en-US" sz="3200" dirty="0"/>
          </a:p>
        </p:txBody>
      </p:sp>
      <p:sp>
        <p:nvSpPr>
          <p:cNvPr id="3" name="Tarjeta 1"/>
          <p:cNvSpPr/>
          <p:nvPr/>
        </p:nvSpPr>
        <p:spPr>
          <a:xfrm>
            <a:off x="548640" y="1600200"/>
            <a:ext cx="5852160" cy="1005840"/>
          </a:xfrm>
          <a:prstGeom prst="roundRect">
            <a:avLst>
              <a:gd name="adj" fmla="val 10909"/>
            </a:avLst>
          </a:prstGeom>
          <a:solidFill>
            <a:schemeClr val="bg2"/>
          </a:solidFill>
          <a:ln w="6350">
            <a:solidFill>
              <a:schemeClr val="bg1"/>
            </a:solidFill>
            <a:prstDash val="solid"/>
          </a:ln>
          <a:effectLst>
            <a:outerShdw sx="100000" sy="100000" kx="0" ky="0" algn="bl" rotWithShape="0" blurRad="76200" dist="25400" dir="5400000">
              <a:srgbClr val="000000">
                <a:alpha val="10000"/>
              </a:srgbClr>
            </a:outerShdw>
          </a:effectLst>
        </p:spPr>
      </p:sp>
      <p:sp>
        <p:nvSpPr>
          <p:cNvPr id="4" name="Línea Email"/>
          <p:cNvSpPr/>
          <p:nvPr/>
        </p:nvSpPr>
        <p:spPr>
          <a:xfrm>
            <a:off x="777240" y="1856232"/>
            <a:ext cx="502920" cy="109728"/>
          </a:xfrm>
          <a:prstGeom prst="roundRect">
            <a:avLst>
              <a:gd name="adj" fmla="val 50000"/>
            </a:avLst>
          </a:prstGeom>
          <a:solidFill>
            <a:schemeClr val="accent2"/>
          </a:solidFill>
          <a:ln w="12700">
            <a:solidFill>
              <a:schemeClr val="accent2"/>
            </a:solidFill>
            <a:prstDash val="solid"/>
          </a:ln>
        </p:spPr>
      </p:sp>
      <p:sp>
        <p:nvSpPr>
          <p:cNvPr id="5" name="Línea SMS"/>
          <p:cNvSpPr/>
          <p:nvPr/>
        </p:nvSpPr>
        <p:spPr>
          <a:xfrm>
            <a:off x="777240" y="2011680"/>
            <a:ext cx="502920" cy="109728"/>
          </a:xfrm>
          <a:prstGeom prst="roundRect">
            <a:avLst>
              <a:gd name="adj" fmla="val 50000"/>
            </a:avLst>
          </a:prstGeom>
          <a:solidFill>
            <a:schemeClr val="accent3"/>
          </a:solidFill>
          <a:ln w="12700">
            <a:solidFill>
              <a:schemeClr val="accent3"/>
            </a:solidFill>
            <a:prstDash val="solid"/>
          </a:ln>
        </p:spPr>
      </p:sp>
      <p:sp>
        <p:nvSpPr>
          <p:cNvPr id="6" name="Línea Push"/>
          <p:cNvSpPr/>
          <p:nvPr/>
        </p:nvSpPr>
        <p:spPr>
          <a:xfrm>
            <a:off x="777240" y="2167128"/>
            <a:ext cx="502920" cy="109728"/>
          </a:xfrm>
          <a:prstGeom prst="roundRect">
            <a:avLst>
              <a:gd name="adj" fmla="val 50000"/>
            </a:avLst>
          </a:prstGeom>
          <a:solidFill>
            <a:schemeClr val="accent4"/>
          </a:solidFill>
          <a:ln w="12700">
            <a:solidFill>
              <a:schemeClr val="accent4"/>
            </a:solidFill>
            <a:prstDash val="solid"/>
          </a:ln>
        </p:spPr>
      </p:sp>
      <p:sp>
        <p:nvSpPr>
          <p:cNvPr id="7" name="Línea Webhook"/>
          <p:cNvSpPr/>
          <p:nvPr/>
        </p:nvSpPr>
        <p:spPr>
          <a:xfrm>
            <a:off x="777240" y="2322576"/>
            <a:ext cx="502920" cy="109728"/>
          </a:xfrm>
          <a:prstGeom prst="roundRect">
            <a:avLst>
              <a:gd name="adj" fmla="val 50000"/>
            </a:avLst>
          </a:prstGeom>
          <a:solidFill>
            <a:schemeClr val="accent5"/>
          </a:solidFill>
          <a:ln w="12700">
            <a:solidFill>
              <a:schemeClr val="accent5"/>
            </a:solidFill>
            <a:prstDash val="solid"/>
          </a:ln>
        </p:spPr>
      </p:sp>
      <p:sp>
        <p:nvSpPr>
          <p:cNvPr id="8" name="Título 1"/>
          <p:cNvSpPr txBox="1"/>
          <p:nvPr/>
        </p:nvSpPr>
        <p:spPr>
          <a:xfrm>
            <a:off x="1554480" y="1728216"/>
            <a:ext cx="4663440" cy="329184"/>
          </a:xfrm>
          <a:prstGeom prst="rect">
            <a:avLst/>
          </a:prstGeom>
          <a:noFill/>
          <a:ln/>
        </p:spPr>
        <p:txBody>
          <a:bodyPr wrap="square" lIns="0" tIns="0" rIns="0" bIns="0" rtlCol="0" anchor="t"/>
          <a:lstStyle/>
          <a:p>
            <a:pPr indent="0" marL="0">
              <a:buNone/>
            </a:pPr>
            <a:r>
              <a:rPr lang="en-US" sz="1800" b="1" dirty="0">
                <a:solidFill>
                  <a:schemeClr val="tx1"/>
                </a:solidFill>
              </a:rPr>
              <a:t>Canal = línea</a:t>
            </a:r>
            <a:endParaRPr lang="en-US" sz="1800" dirty="0"/>
          </a:p>
        </p:txBody>
      </p:sp>
      <p:sp>
        <p:nvSpPr>
          <p:cNvPr id="9" name="Texto 1"/>
          <p:cNvSpPr txBox="1"/>
          <p:nvPr/>
        </p:nvSpPr>
        <p:spPr>
          <a:xfrm>
            <a:off x="1554480" y="2075688"/>
            <a:ext cx="4663440" cy="475488"/>
          </a:xfrm>
          <a:prstGeom prst="rect">
            <a:avLst/>
          </a:prstGeom>
          <a:noFill/>
          <a:ln/>
        </p:spPr>
        <p:txBody>
          <a:bodyPr wrap="square" lIns="0" tIns="0" rIns="0" bIns="0" rtlCol="0" anchor="t"/>
          <a:lstStyle/>
          <a:p>
            <a:pPr indent="0" marL="0">
              <a:buNone/>
            </a:pPr>
            <a:r>
              <a:rPr lang="en-US" sz="1400" dirty="0">
                <a:solidFill>
                  <a:schemeClr val="tx2"/>
                </a:solidFill>
              </a:rPr>
              <a:t>Email, SMS, Push y Webhook. Cada canal es una línea de su propio color.</a:t>
            </a:r>
            <a:endParaRPr lang="en-US" sz="1400" dirty="0"/>
          </a:p>
        </p:txBody>
      </p:sp>
      <p:sp>
        <p:nvSpPr>
          <p:cNvPr id="10" name="Tarjeta 2"/>
          <p:cNvSpPr/>
          <p:nvPr/>
        </p:nvSpPr>
        <p:spPr>
          <a:xfrm>
            <a:off x="548640" y="2770632"/>
            <a:ext cx="5852160" cy="1005840"/>
          </a:xfrm>
          <a:prstGeom prst="roundRect">
            <a:avLst>
              <a:gd name="adj" fmla="val 10909"/>
            </a:avLst>
          </a:prstGeom>
          <a:solidFill>
            <a:schemeClr val="bg2"/>
          </a:solidFill>
          <a:ln w="6350">
            <a:solidFill>
              <a:schemeClr val="bg1"/>
            </a:solidFill>
            <a:prstDash val="solid"/>
          </a:ln>
          <a:effectLst>
            <a:outerShdw sx="100000" sy="100000" kx="0" ky="0" algn="bl" rotWithShape="0" blurRad="76200" dist="25400" dir="5400000">
              <a:srgbClr val="000000">
                <a:alpha val="10000"/>
              </a:srgbClr>
            </a:outerShdw>
          </a:effectLst>
        </p:spPr>
      </p:sp>
      <p:sp>
        <p:nvSpPr>
          <p:cNvPr id="11" name="Estación"/>
          <p:cNvSpPr/>
          <p:nvPr/>
        </p:nvSpPr>
        <p:spPr>
          <a:xfrm>
            <a:off x="868680" y="3136392"/>
            <a:ext cx="292608" cy="292608"/>
          </a:xfrm>
          <a:prstGeom prst="ellipse">
            <a:avLst/>
          </a:prstGeom>
          <a:solidFill>
            <a:schemeClr val="bg2"/>
          </a:solidFill>
          <a:ln w="38100">
            <a:solidFill>
              <a:schemeClr val="accent2"/>
            </a:solidFill>
            <a:prstDash val="solid"/>
          </a:ln>
        </p:spPr>
      </p:sp>
      <p:sp>
        <p:nvSpPr>
          <p:cNvPr id="12" name="Título 2"/>
          <p:cNvSpPr txBox="1"/>
          <p:nvPr/>
        </p:nvSpPr>
        <p:spPr>
          <a:xfrm>
            <a:off x="1554480" y="2898648"/>
            <a:ext cx="4663440" cy="329184"/>
          </a:xfrm>
          <a:prstGeom prst="rect">
            <a:avLst/>
          </a:prstGeom>
          <a:noFill/>
          <a:ln/>
        </p:spPr>
        <p:txBody>
          <a:bodyPr wrap="square" lIns="0" tIns="0" rIns="0" bIns="0" rtlCol="0" anchor="t"/>
          <a:lstStyle/>
          <a:p>
            <a:pPr indent="0" marL="0">
              <a:buNone/>
            </a:pPr>
            <a:r>
              <a:rPr lang="en-US" sz="1800" b="1" dirty="0">
                <a:solidFill>
                  <a:schemeClr val="tx1"/>
                </a:solidFill>
              </a:rPr>
              <a:t>Proveedor = estación</a:t>
            </a:r>
            <a:endParaRPr lang="en-US" sz="1800" dirty="0"/>
          </a:p>
        </p:txBody>
      </p:sp>
      <p:sp>
        <p:nvSpPr>
          <p:cNvPr id="13" name="Texto 2"/>
          <p:cNvSpPr txBox="1"/>
          <p:nvPr/>
        </p:nvSpPr>
        <p:spPr>
          <a:xfrm>
            <a:off x="1554480" y="3246120"/>
            <a:ext cx="4663440" cy="475488"/>
          </a:xfrm>
          <a:prstGeom prst="rect">
            <a:avLst/>
          </a:prstGeom>
          <a:noFill/>
          <a:ln/>
        </p:spPr>
        <p:txBody>
          <a:bodyPr wrap="square" lIns="0" tIns="0" rIns="0" bIns="0" rtlCol="0" anchor="t"/>
          <a:lstStyle/>
          <a:p>
            <a:pPr indent="0" marL="0">
              <a:buNone/>
            </a:pPr>
            <a:r>
              <a:rPr lang="en-US" sz="1400" dirty="0">
                <a:solidFill>
                  <a:schemeClr val="tx2"/>
                </a:solidFill>
              </a:rPr>
              <a:t>SendGrid, Twilio, FCM y webhook. Cada intento de envío es una parada.</a:t>
            </a:r>
            <a:endParaRPr lang="en-US" sz="1400" dirty="0"/>
          </a:p>
        </p:txBody>
      </p:sp>
      <p:sp>
        <p:nvSpPr>
          <p:cNvPr id="14" name="Tarjeta 3"/>
          <p:cNvSpPr/>
          <p:nvPr/>
        </p:nvSpPr>
        <p:spPr>
          <a:xfrm>
            <a:off x="548640" y="3941064"/>
            <a:ext cx="5852160" cy="1005840"/>
          </a:xfrm>
          <a:prstGeom prst="roundRect">
            <a:avLst>
              <a:gd name="adj" fmla="val 10909"/>
            </a:avLst>
          </a:prstGeom>
          <a:solidFill>
            <a:schemeClr val="bg2"/>
          </a:solidFill>
          <a:ln w="6350">
            <a:solidFill>
              <a:schemeClr val="bg1"/>
            </a:solidFill>
            <a:prstDash val="solid"/>
          </a:ln>
          <a:effectLst>
            <a:outerShdw sx="100000" sy="100000" kx="0" ky="0" algn="bl" rotWithShape="0" blurRad="76200" dist="25400" dir="5400000">
              <a:srgbClr val="000000">
                <a:alpha val="10000"/>
              </a:srgbClr>
            </a:outerShdw>
          </a:effectLst>
        </p:spPr>
      </p:sp>
      <p:sp>
        <p:nvSpPr>
          <p:cNvPr id="15" name="Transbordo"/>
          <p:cNvSpPr/>
          <p:nvPr/>
        </p:nvSpPr>
        <p:spPr>
          <a:xfrm>
            <a:off x="868680" y="4306824"/>
            <a:ext cx="292608" cy="292608"/>
          </a:xfrm>
          <a:prstGeom prst="diamond">
            <a:avLst/>
          </a:prstGeom>
          <a:solidFill>
            <a:schemeClr val="accent1"/>
          </a:solidFill>
          <a:ln w="12700">
            <a:solidFill>
              <a:schemeClr val="accent1"/>
            </a:solidFill>
            <a:prstDash val="solid"/>
          </a:ln>
        </p:spPr>
      </p:sp>
      <p:sp>
        <p:nvSpPr>
          <p:cNvPr id="16" name="Título 3"/>
          <p:cNvSpPr txBox="1"/>
          <p:nvPr/>
        </p:nvSpPr>
        <p:spPr>
          <a:xfrm>
            <a:off x="1554480" y="4069080"/>
            <a:ext cx="4663440" cy="329184"/>
          </a:xfrm>
          <a:prstGeom prst="rect">
            <a:avLst/>
          </a:prstGeom>
          <a:noFill/>
          <a:ln/>
        </p:spPr>
        <p:txBody>
          <a:bodyPr wrap="square" lIns="0" tIns="0" rIns="0" bIns="0" rtlCol="0" anchor="t"/>
          <a:lstStyle/>
          <a:p>
            <a:pPr indent="0" marL="0">
              <a:buNone/>
            </a:pPr>
            <a:r>
              <a:rPr lang="en-US" sz="1800" b="1" dirty="0">
                <a:solidFill>
                  <a:schemeClr val="tx1"/>
                </a:solidFill>
              </a:rPr>
              <a:t>Fallback = transbordo</a:t>
            </a:r>
            <a:endParaRPr lang="en-US" sz="1800" dirty="0"/>
          </a:p>
        </p:txBody>
      </p:sp>
      <p:sp>
        <p:nvSpPr>
          <p:cNvPr id="17" name="Texto 3"/>
          <p:cNvSpPr txBox="1"/>
          <p:nvPr/>
        </p:nvSpPr>
        <p:spPr>
          <a:xfrm>
            <a:off x="1554480" y="4416552"/>
            <a:ext cx="4663440" cy="475488"/>
          </a:xfrm>
          <a:prstGeom prst="rect">
            <a:avLst/>
          </a:prstGeom>
          <a:noFill/>
          <a:ln/>
        </p:spPr>
        <p:txBody>
          <a:bodyPr wrap="square" lIns="0" tIns="0" rIns="0" bIns="0" rtlCol="0" anchor="t"/>
          <a:lstStyle/>
          <a:p>
            <a:pPr indent="0" marL="0">
              <a:buNone/>
            </a:pPr>
            <a:r>
              <a:rPr lang="en-US" sz="1400" dirty="0">
                <a:solidFill>
                  <a:schemeClr val="tx2"/>
                </a:solidFill>
              </a:rPr>
              <a:t>Si un canal agota sus reintentos, el mensaje pasa a otro y llega igual.</a:t>
            </a:r>
            <a:endParaRPr lang="en-US" sz="1400" dirty="0"/>
          </a:p>
        </p:txBody>
      </p:sp>
      <p:sp>
        <p:nvSpPr>
          <p:cNvPr id="18" name="Tarjeta 4"/>
          <p:cNvSpPr/>
          <p:nvPr/>
        </p:nvSpPr>
        <p:spPr>
          <a:xfrm>
            <a:off x="548640" y="5111496"/>
            <a:ext cx="5852160" cy="1005840"/>
          </a:xfrm>
          <a:prstGeom prst="roundRect">
            <a:avLst>
              <a:gd name="adj" fmla="val 10909"/>
            </a:avLst>
          </a:prstGeom>
          <a:solidFill>
            <a:schemeClr val="bg2"/>
          </a:solidFill>
          <a:ln w="6350">
            <a:solidFill>
              <a:schemeClr val="bg1"/>
            </a:solidFill>
            <a:prstDash val="solid"/>
          </a:ln>
          <a:effectLst>
            <a:outerShdw sx="100000" sy="100000" kx="0" ky="0" algn="bl" rotWithShape="0" blurRad="76200" dist="25400" dir="5400000">
              <a:srgbClr val="000000">
                <a:alpha val="10000"/>
              </a:srgbClr>
            </a:outerShdw>
          </a:effectLst>
        </p:spPr>
      </p:sp>
      <p:sp>
        <p:nvSpPr>
          <p:cNvPr id="19" name="Destino"/>
          <p:cNvSpPr/>
          <p:nvPr/>
        </p:nvSpPr>
        <p:spPr>
          <a:xfrm>
            <a:off x="868680" y="5477256"/>
            <a:ext cx="292608" cy="292608"/>
          </a:xfrm>
          <a:prstGeom prst="ellipse">
            <a:avLst/>
          </a:prstGeom>
          <a:solidFill>
            <a:schemeClr val="accent6"/>
          </a:solidFill>
          <a:ln w="38100">
            <a:solidFill>
              <a:schemeClr val="accent6"/>
            </a:solidFill>
            <a:prstDash val="solid"/>
          </a:ln>
        </p:spPr>
      </p:sp>
      <p:sp>
        <p:nvSpPr>
          <p:cNvPr id="20" name="Título 4"/>
          <p:cNvSpPr txBox="1"/>
          <p:nvPr/>
        </p:nvSpPr>
        <p:spPr>
          <a:xfrm>
            <a:off x="1554480" y="5239512"/>
            <a:ext cx="4663440" cy="329184"/>
          </a:xfrm>
          <a:prstGeom prst="rect">
            <a:avLst/>
          </a:prstGeom>
          <a:noFill/>
          <a:ln/>
        </p:spPr>
        <p:txBody>
          <a:bodyPr wrap="square" lIns="0" tIns="0" rIns="0" bIns="0" rtlCol="0" anchor="t"/>
          <a:lstStyle/>
          <a:p>
            <a:pPr indent="0" marL="0">
              <a:buNone/>
            </a:pPr>
            <a:r>
              <a:rPr lang="en-US" sz="1800" b="1" dirty="0">
                <a:solidFill>
                  <a:schemeClr val="tx1"/>
                </a:solidFill>
              </a:rPr>
              <a:t>Destino = entregada</a:t>
            </a:r>
            <a:endParaRPr lang="en-US" sz="1800" dirty="0"/>
          </a:p>
        </p:txBody>
      </p:sp>
      <p:sp>
        <p:nvSpPr>
          <p:cNvPr id="21" name="Texto 4"/>
          <p:cNvSpPr txBox="1"/>
          <p:nvPr/>
        </p:nvSpPr>
        <p:spPr>
          <a:xfrm>
            <a:off x="1554480" y="5586984"/>
            <a:ext cx="4663440" cy="475488"/>
          </a:xfrm>
          <a:prstGeom prst="rect">
            <a:avLst/>
          </a:prstGeom>
          <a:noFill/>
          <a:ln/>
        </p:spPr>
        <p:txBody>
          <a:bodyPr wrap="square" lIns="0" tIns="0" rIns="0" bIns="0" rtlCol="0" anchor="t"/>
          <a:lstStyle/>
          <a:p>
            <a:pPr indent="0" marL="0">
              <a:buNone/>
            </a:pPr>
            <a:r>
              <a:rPr lang="en-US" sz="1400" dirty="0">
                <a:solidFill>
                  <a:schemeClr val="tx2"/>
                </a:solidFill>
              </a:rPr>
              <a:t>Cada notificación termina entregada o fallida, con su bitácora completa.</a:t>
            </a:r>
            <a:endParaRPr lang="en-US" sz="1400" dirty="0"/>
          </a:p>
        </p:txBody>
      </p:sp>
      <p:sp>
        <p:nvSpPr>
          <p:cNvPr id="22" name="Ejemplo"/>
          <p:cNvSpPr/>
          <p:nvPr/>
        </p:nvSpPr>
        <p:spPr>
          <a:xfrm>
            <a:off x="6949440" y="1600200"/>
            <a:ext cx="4709160" cy="4572000"/>
          </a:xfrm>
          <a:prstGeom prst="roundRect">
            <a:avLst>
              <a:gd name="adj" fmla="val 2400"/>
            </a:avLst>
          </a:prstGeom>
          <a:solidFill>
            <a:schemeClr val="bg2"/>
          </a:solidFill>
          <a:ln w="6350">
            <a:solidFill>
              <a:schemeClr val="bg1"/>
            </a:solidFill>
            <a:prstDash val="solid"/>
          </a:ln>
          <a:effectLst>
            <a:outerShdw sx="100000" sy="100000" kx="0" ky="0" algn="bl" rotWithShape="0" blurRad="76200" dist="25400" dir="5400000">
              <a:srgbClr val="000000">
                <a:alpha val="10000"/>
              </a:srgbClr>
            </a:outerShdw>
          </a:effectLst>
        </p:spPr>
      </p:sp>
      <p:sp>
        <p:nvSpPr>
          <p:cNvPr id="23" name="Ejemplo título"/>
          <p:cNvSpPr txBox="1"/>
          <p:nvPr/>
        </p:nvSpPr>
        <p:spPr>
          <a:xfrm>
            <a:off x="7269480" y="1783080"/>
            <a:ext cx="4114800" cy="365760"/>
          </a:xfrm>
          <a:prstGeom prst="rect">
            <a:avLst/>
          </a:prstGeom>
          <a:noFill/>
          <a:ln/>
        </p:spPr>
        <p:txBody>
          <a:bodyPr wrap="square" lIns="0" tIns="0" rIns="0" bIns="0" rtlCol="0" anchor="t"/>
          <a:lstStyle/>
          <a:p>
            <a:pPr indent="0" marL="0">
              <a:buNone/>
            </a:pPr>
            <a:r>
              <a:rPr lang="en-US" sz="2000" b="1" dirty="0">
                <a:solidFill>
                  <a:schemeClr val="tx1"/>
                </a:solidFill>
              </a:rPr>
              <a:t>Un push que falla</a:t>
            </a:r>
            <a:endParaRPr lang="en-US" sz="2000" dirty="0"/>
          </a:p>
        </p:txBody>
      </p:sp>
      <p:sp>
        <p:nvSpPr>
          <p:cNvPr id="24" name="Línea Push"/>
          <p:cNvSpPr/>
          <p:nvPr/>
        </p:nvSpPr>
        <p:spPr>
          <a:xfrm>
            <a:off x="7406640" y="2880360"/>
            <a:ext cx="2103120" cy="91440"/>
          </a:xfrm>
          <a:prstGeom prst="roundRect">
            <a:avLst>
              <a:gd name="adj" fmla="val 50000"/>
            </a:avLst>
          </a:prstGeom>
          <a:solidFill>
            <a:schemeClr val="accent4"/>
          </a:solidFill>
          <a:ln w="12700">
            <a:solidFill>
              <a:schemeClr val="accent4"/>
            </a:solidFill>
            <a:prstDash val="solid"/>
          </a:ln>
        </p:spPr>
      </p:sp>
      <p:sp>
        <p:nvSpPr>
          <p:cNvPr id="25" name="Intento Push 1"/>
          <p:cNvSpPr/>
          <p:nvPr/>
        </p:nvSpPr>
        <p:spPr>
          <a:xfrm>
            <a:off x="7278624" y="2798064"/>
            <a:ext cx="256032" cy="256032"/>
          </a:xfrm>
          <a:prstGeom prst="ellipse">
            <a:avLst/>
          </a:prstGeom>
          <a:solidFill>
            <a:schemeClr val="bg2"/>
          </a:solidFill>
          <a:ln w="38100">
            <a:solidFill>
              <a:schemeClr val="accent4"/>
            </a:solidFill>
            <a:prstDash val="solid"/>
          </a:ln>
        </p:spPr>
      </p:sp>
      <p:sp>
        <p:nvSpPr>
          <p:cNvPr id="26" name="Intento Push 2"/>
          <p:cNvSpPr/>
          <p:nvPr/>
        </p:nvSpPr>
        <p:spPr>
          <a:xfrm>
            <a:off x="8101584" y="2798064"/>
            <a:ext cx="256032" cy="256032"/>
          </a:xfrm>
          <a:prstGeom prst="ellipse">
            <a:avLst/>
          </a:prstGeom>
          <a:solidFill>
            <a:schemeClr val="bg2"/>
          </a:solidFill>
          <a:ln w="38100">
            <a:solidFill>
              <a:schemeClr val="accent4"/>
            </a:solidFill>
            <a:prstDash val="solid"/>
          </a:ln>
        </p:spPr>
      </p:sp>
      <p:sp>
        <p:nvSpPr>
          <p:cNvPr id="27" name="Intento Push 3"/>
          <p:cNvSpPr/>
          <p:nvPr/>
        </p:nvSpPr>
        <p:spPr>
          <a:xfrm>
            <a:off x="8924544" y="2798064"/>
            <a:ext cx="256032" cy="256032"/>
          </a:xfrm>
          <a:prstGeom prst="ellipse">
            <a:avLst/>
          </a:prstGeom>
          <a:solidFill>
            <a:schemeClr val="bg2"/>
          </a:solidFill>
          <a:ln w="38100">
            <a:solidFill>
              <a:schemeClr val="accent4"/>
            </a:solidFill>
            <a:prstDash val="solid"/>
          </a:ln>
        </p:spPr>
      </p:sp>
      <p:sp>
        <p:nvSpPr>
          <p:cNvPr id="28" name="Etiqueta Push"/>
          <p:cNvSpPr txBox="1"/>
          <p:nvPr/>
        </p:nvSpPr>
        <p:spPr>
          <a:xfrm>
            <a:off x="7269480" y="2377440"/>
            <a:ext cx="3108960" cy="320040"/>
          </a:xfrm>
          <a:prstGeom prst="rect">
            <a:avLst/>
          </a:prstGeom>
          <a:noFill/>
          <a:ln/>
        </p:spPr>
        <p:txBody>
          <a:bodyPr wrap="square" lIns="0" tIns="0" rIns="0" bIns="0" rtlCol="0" anchor="t"/>
          <a:lstStyle/>
          <a:p>
            <a:pPr indent="0" marL="0">
              <a:buNone/>
            </a:pPr>
            <a:r>
              <a:rPr lang="en-US" sz="1400" dirty="0">
                <a:solidFill>
                  <a:schemeClr val="tx2"/>
                </a:solidFill>
              </a:rPr>
              <a:t>Push · 3 intentos con error 503</a:t>
            </a:r>
            <a:endParaRPr lang="en-US" sz="1400" dirty="0"/>
          </a:p>
        </p:txBody>
      </p:sp>
      <p:sp>
        <p:nvSpPr>
          <p:cNvPr id="29" name="Conector"/>
          <p:cNvSpPr/>
          <p:nvPr/>
        </p:nvSpPr>
        <p:spPr>
          <a:xfrm>
            <a:off x="9509760" y="2926080"/>
            <a:ext cx="640080" cy="1005840"/>
          </a:xfrm>
          <a:prstGeom prst="line">
            <a:avLst/>
          </a:prstGeom>
          <a:noFill/>
          <a:ln w="38100">
            <a:solidFill>
              <a:schemeClr val="accent1"/>
            </a:solidFill>
            <a:prstDash val="sysDot"/>
          </a:ln>
        </p:spPr>
      </p:sp>
      <p:sp>
        <p:nvSpPr>
          <p:cNvPr id="30" name="Transbordo"/>
          <p:cNvSpPr/>
          <p:nvPr/>
        </p:nvSpPr>
        <p:spPr>
          <a:xfrm>
            <a:off x="9692640" y="3246120"/>
            <a:ext cx="274320" cy="274320"/>
          </a:xfrm>
          <a:prstGeom prst="diamond">
            <a:avLst/>
          </a:prstGeom>
          <a:solidFill>
            <a:schemeClr val="accent1"/>
          </a:solidFill>
          <a:ln w="12700">
            <a:solidFill>
              <a:schemeClr val="accent1"/>
            </a:solidFill>
            <a:prstDash val="solid"/>
          </a:ln>
        </p:spPr>
      </p:sp>
      <p:sp>
        <p:nvSpPr>
          <p:cNvPr id="31" name="Línea SMS"/>
          <p:cNvSpPr/>
          <p:nvPr/>
        </p:nvSpPr>
        <p:spPr>
          <a:xfrm>
            <a:off x="10149840" y="3886200"/>
            <a:ext cx="1234440" cy="91440"/>
          </a:xfrm>
          <a:prstGeom prst="roundRect">
            <a:avLst>
              <a:gd name="adj" fmla="val 50000"/>
            </a:avLst>
          </a:prstGeom>
          <a:solidFill>
            <a:schemeClr val="accent3"/>
          </a:solidFill>
          <a:ln w="12700">
            <a:solidFill>
              <a:schemeClr val="accent3"/>
            </a:solidFill>
            <a:prstDash val="solid"/>
          </a:ln>
        </p:spPr>
      </p:sp>
      <p:sp>
        <p:nvSpPr>
          <p:cNvPr id="32" name="Entrega SMS"/>
          <p:cNvSpPr/>
          <p:nvPr/>
        </p:nvSpPr>
        <p:spPr>
          <a:xfrm>
            <a:off x="11247120" y="3803904"/>
            <a:ext cx="256032" cy="256032"/>
          </a:xfrm>
          <a:prstGeom prst="ellipse">
            <a:avLst/>
          </a:prstGeom>
          <a:solidFill>
            <a:schemeClr val="accent3"/>
          </a:solidFill>
          <a:ln w="38100">
            <a:solidFill>
              <a:schemeClr val="accent3"/>
            </a:solidFill>
            <a:prstDash val="solid"/>
          </a:ln>
        </p:spPr>
      </p:sp>
      <p:sp>
        <p:nvSpPr>
          <p:cNvPr id="33" name="Etiqueta SMS"/>
          <p:cNvSpPr txBox="1"/>
          <p:nvPr/>
        </p:nvSpPr>
        <p:spPr>
          <a:xfrm>
            <a:off x="10012680" y="4251960"/>
            <a:ext cx="1463040" cy="320040"/>
          </a:xfrm>
          <a:prstGeom prst="rect">
            <a:avLst/>
          </a:prstGeom>
          <a:noFill/>
          <a:ln/>
        </p:spPr>
        <p:txBody>
          <a:bodyPr wrap="square" lIns="0" tIns="0" rIns="0" bIns="0" rtlCol="0" anchor="t"/>
          <a:lstStyle/>
          <a:p>
            <a:pPr indent="0" marL="0">
              <a:buNone/>
            </a:pPr>
            <a:r>
              <a:rPr lang="en-US" sz="1400" dirty="0">
                <a:solidFill>
                  <a:schemeClr val="tx2"/>
                </a:solidFill>
              </a:rPr>
              <a:t>SMS · entregada</a:t>
            </a:r>
            <a:endParaRPr lang="en-US" sz="1400" dirty="0"/>
          </a:p>
        </p:txBody>
      </p:sp>
      <p:sp>
        <p:nvSpPr>
          <p:cNvPr id="34" name="Ejemplo texto"/>
          <p:cNvSpPr txBox="1"/>
          <p:nvPr/>
        </p:nvSpPr>
        <p:spPr>
          <a:xfrm>
            <a:off x="7269480" y="4983480"/>
            <a:ext cx="4069080" cy="914400"/>
          </a:xfrm>
          <a:prstGeom prst="rect">
            <a:avLst/>
          </a:prstGeom>
          <a:noFill/>
          <a:ln/>
        </p:spPr>
        <p:txBody>
          <a:bodyPr wrap="square" lIns="0" tIns="0" rIns="0" bIns="0" rtlCol="0" anchor="t"/>
          <a:lstStyle/>
          <a:p>
            <a:pPr indent="0" marL="0">
              <a:buNone/>
            </a:pPr>
            <a:r>
              <a:rPr lang="en-US" sz="1600" dirty="0">
                <a:solidFill>
                  <a:schemeClr val="tx1"/>
                </a:solidFill>
              </a:rPr>
              <a:t>El usuario no se entera del fallo: recibe el mensaje por SMS, y el sistema deja registrado cada intento.</a:t>
            </a:r>
            <a:endParaRPr lang="en-US" sz="16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Resumen muestra todo el tráfico</a:t>
            </a:r>
            <a:endParaRPr lang="en-US" sz="3200" dirty="0"/>
          </a:p>
        </p:txBody>
      </p:sp>
      <p:pic>
        <p:nvPicPr>
          <p:cNvPr id="3" name="Image 0" descr="Captura del Resumen: mapa de rutas con cuatro líneas, estaciones y un transbordo de Push a SMS">    </p:cNvPr>
          <p:cNvPicPr>
            <a:picLocks noChangeAspect="1"/>
          </p:cNvPicPr>
          <p:nvPr/>
        </p:nvPicPr>
        <p:blipFill>
          <a:blip r:embed="rId1"/>
          <a:stretch>
            <a:fillRect/>
          </a:stretch>
        </p:blipFill>
        <p:spPr>
          <a:xfrm>
            <a:off x="548640" y="1463040"/>
            <a:ext cx="7104104" cy="4709160"/>
          </a:xfrm>
          <a:prstGeom prst="rect">
            <a:avLst/>
          </a:prstGeom>
        </p:spPr>
      </p:pic>
      <p:sp>
        <p:nvSpPr>
          <p:cNvPr id="4" name="Marcador 1"/>
          <p:cNvSpPr/>
          <p:nvPr/>
        </p:nvSpPr>
        <p:spPr>
          <a:xfrm>
            <a:off x="8503920" y="1691640"/>
            <a:ext cx="457200" cy="109728"/>
          </a:xfrm>
          <a:prstGeom prst="roundRect">
            <a:avLst>
              <a:gd name="adj" fmla="val 50000"/>
            </a:avLst>
          </a:prstGeom>
          <a:solidFill>
            <a:schemeClr val="accent2"/>
          </a:solidFill>
          <a:ln w="12700">
            <a:solidFill>
              <a:schemeClr val="accent2"/>
            </a:solidFill>
            <a:prstDash val="solid"/>
          </a:ln>
        </p:spPr>
      </p:sp>
      <p:sp>
        <p:nvSpPr>
          <p:cNvPr id="5" name="Título 1"/>
          <p:cNvSpPr txBox="1"/>
          <p:nvPr/>
        </p:nvSpPr>
        <p:spPr>
          <a:xfrm>
            <a:off x="8503920" y="1874520"/>
            <a:ext cx="3200400" cy="329184"/>
          </a:xfrm>
          <a:prstGeom prst="rect">
            <a:avLst/>
          </a:prstGeom>
          <a:noFill/>
          <a:ln/>
        </p:spPr>
        <p:txBody>
          <a:bodyPr wrap="square" lIns="0" tIns="0" rIns="0" bIns="0" rtlCol="0" anchor="t"/>
          <a:lstStyle/>
          <a:p>
            <a:pPr indent="0" marL="0">
              <a:buNone/>
            </a:pPr>
            <a:r>
              <a:rPr lang="en-US" sz="1800" b="1" dirty="0">
                <a:solidFill>
                  <a:schemeClr val="tx1"/>
                </a:solidFill>
              </a:rPr>
              <a:t>Una línea por canal</a:t>
            </a:r>
            <a:endParaRPr lang="en-US" sz="1800" dirty="0"/>
          </a:p>
        </p:txBody>
      </p:sp>
      <p:sp>
        <p:nvSpPr>
          <p:cNvPr id="6" name="Texto 1"/>
          <p:cNvSpPr txBox="1"/>
          <p:nvPr/>
        </p:nvSpPr>
        <p:spPr>
          <a:xfrm>
            <a:off x="8503920" y="2258568"/>
            <a:ext cx="3200400" cy="603504"/>
          </a:xfrm>
          <a:prstGeom prst="rect">
            <a:avLst/>
          </a:prstGeom>
          <a:noFill/>
          <a:ln/>
        </p:spPr>
        <p:txBody>
          <a:bodyPr wrap="square" lIns="0" tIns="0" rIns="0" bIns="0" rtlCol="0" anchor="t"/>
          <a:lstStyle/>
          <a:p>
            <a:pPr indent="0" marL="0">
              <a:buNone/>
            </a:pPr>
            <a:r>
              <a:rPr lang="en-US" sz="1400" dirty="0">
                <a:solidFill>
                  <a:schemeClr val="tx2"/>
                </a:solidFill>
              </a:rPr>
              <a:t>De recibidas a entregadas, con cifras reales de la API.</a:t>
            </a:r>
            <a:endParaRPr lang="en-US" sz="1400" dirty="0"/>
          </a:p>
        </p:txBody>
      </p:sp>
      <p:sp>
        <p:nvSpPr>
          <p:cNvPr id="7" name="Marcador 2"/>
          <p:cNvSpPr/>
          <p:nvPr/>
        </p:nvSpPr>
        <p:spPr>
          <a:xfrm>
            <a:off x="8503920" y="3154680"/>
            <a:ext cx="457200" cy="109728"/>
          </a:xfrm>
          <a:prstGeom prst="roundRect">
            <a:avLst>
              <a:gd name="adj" fmla="val 50000"/>
            </a:avLst>
          </a:prstGeom>
          <a:solidFill>
            <a:schemeClr val="accent1"/>
          </a:solidFill>
          <a:ln w="12700">
            <a:solidFill>
              <a:schemeClr val="accent1"/>
            </a:solidFill>
            <a:prstDash val="solid"/>
          </a:ln>
        </p:spPr>
      </p:sp>
      <p:sp>
        <p:nvSpPr>
          <p:cNvPr id="8" name="Título 2"/>
          <p:cNvSpPr txBox="1"/>
          <p:nvPr/>
        </p:nvSpPr>
        <p:spPr>
          <a:xfrm>
            <a:off x="8503920" y="3337560"/>
            <a:ext cx="3200400" cy="329184"/>
          </a:xfrm>
          <a:prstGeom prst="rect">
            <a:avLst/>
          </a:prstGeom>
          <a:noFill/>
          <a:ln/>
        </p:spPr>
        <p:txBody>
          <a:bodyPr wrap="square" lIns="0" tIns="0" rIns="0" bIns="0" rtlCol="0" anchor="t"/>
          <a:lstStyle/>
          <a:p>
            <a:pPr indent="0" marL="0">
              <a:buNone/>
            </a:pPr>
            <a:r>
              <a:rPr lang="en-US" sz="1800" b="1" dirty="0">
                <a:solidFill>
                  <a:schemeClr val="tx1"/>
                </a:solidFill>
              </a:rPr>
              <a:t>Naranja = transbordo</a:t>
            </a:r>
            <a:endParaRPr lang="en-US" sz="1800" dirty="0"/>
          </a:p>
        </p:txBody>
      </p:sp>
      <p:sp>
        <p:nvSpPr>
          <p:cNvPr id="9" name="Texto 2"/>
          <p:cNvSpPr txBox="1"/>
          <p:nvPr/>
        </p:nvSpPr>
        <p:spPr>
          <a:xfrm>
            <a:off x="8503920" y="3721608"/>
            <a:ext cx="3200400" cy="603504"/>
          </a:xfrm>
          <a:prstGeom prst="rect">
            <a:avLst/>
          </a:prstGeom>
          <a:noFill/>
          <a:ln/>
        </p:spPr>
        <p:txBody>
          <a:bodyPr wrap="square" lIns="0" tIns="0" rIns="0" bIns="0" rtlCol="0" anchor="t"/>
          <a:lstStyle/>
          <a:p>
            <a:pPr indent="0" marL="0">
              <a:buNone/>
            </a:pPr>
            <a:r>
              <a:rPr lang="en-US" sz="1400" dirty="0">
                <a:solidFill>
                  <a:schemeClr val="tx2"/>
                </a:solidFill>
              </a:rPr>
              <a:t>Envíos que cambiaron de canal porque el primero falló.</a:t>
            </a:r>
            <a:endParaRPr lang="en-US" sz="1400" dirty="0"/>
          </a:p>
        </p:txBody>
      </p:sp>
      <p:sp>
        <p:nvSpPr>
          <p:cNvPr id="10" name="Marcador 3"/>
          <p:cNvSpPr/>
          <p:nvPr/>
        </p:nvSpPr>
        <p:spPr>
          <a:xfrm>
            <a:off x="8503920" y="4617720"/>
            <a:ext cx="457200" cy="109728"/>
          </a:xfrm>
          <a:prstGeom prst="roundRect">
            <a:avLst>
              <a:gd name="adj" fmla="val 50000"/>
            </a:avLst>
          </a:prstGeom>
          <a:solidFill>
            <a:schemeClr val="accent3"/>
          </a:solidFill>
          <a:ln w="12700">
            <a:solidFill>
              <a:schemeClr val="accent3"/>
            </a:solidFill>
            <a:prstDash val="solid"/>
          </a:ln>
        </p:spPr>
      </p:sp>
      <p:sp>
        <p:nvSpPr>
          <p:cNvPr id="11" name="Título 3"/>
          <p:cNvSpPr txBox="1"/>
          <p:nvPr/>
        </p:nvSpPr>
        <p:spPr>
          <a:xfrm>
            <a:off x="8503920" y="4800600"/>
            <a:ext cx="3200400" cy="329184"/>
          </a:xfrm>
          <a:prstGeom prst="rect">
            <a:avLst/>
          </a:prstGeom>
          <a:noFill/>
          <a:ln/>
        </p:spPr>
        <p:txBody>
          <a:bodyPr wrap="square" lIns="0" tIns="0" rIns="0" bIns="0" rtlCol="0" anchor="t"/>
          <a:lstStyle/>
          <a:p>
            <a:pPr indent="0" marL="0">
              <a:buNone/>
            </a:pPr>
            <a:r>
              <a:rPr lang="en-US" sz="1800" b="1" dirty="0">
                <a:solidFill>
                  <a:schemeClr val="tx1"/>
                </a:solidFill>
              </a:rPr>
              <a:t>Proveedores a la vista</a:t>
            </a:r>
            <a:endParaRPr lang="en-US" sz="1800" dirty="0"/>
          </a:p>
        </p:txBody>
      </p:sp>
      <p:sp>
        <p:nvSpPr>
          <p:cNvPr id="12" name="Texto 3"/>
          <p:cNvSpPr txBox="1"/>
          <p:nvPr/>
        </p:nvSpPr>
        <p:spPr>
          <a:xfrm>
            <a:off x="8503920" y="5184648"/>
            <a:ext cx="3200400" cy="603504"/>
          </a:xfrm>
          <a:prstGeom prst="rect">
            <a:avLst/>
          </a:prstGeom>
          <a:noFill/>
          <a:ln/>
        </p:spPr>
        <p:txBody>
          <a:bodyPr wrap="square" lIns="0" tIns="0" rIns="0" bIns="0" rtlCol="0" anchor="t"/>
          <a:lstStyle/>
          <a:p>
            <a:pPr indent="0" marL="0">
              <a:buNone/>
            </a:pPr>
            <a:r>
              <a:rPr lang="en-US" sz="1400" dirty="0">
                <a:solidFill>
                  <a:schemeClr val="tx2"/>
                </a:solidFill>
              </a:rPr>
              <a:t>Si uno está caído o degradado, se marca en la propia línea.</a:t>
            </a:r>
            <a:endParaRPr lang="en-US" sz="14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La ruta de un mensaje, intento por intento</a:t>
            </a:r>
            <a:endParaRPr lang="en-US" sz="3200" dirty="0"/>
          </a:p>
        </p:txBody>
      </p:sp>
      <p:sp>
        <p:nvSpPr>
          <p:cNvPr id="3" name="Riel 1"/>
          <p:cNvSpPr/>
          <p:nvPr/>
        </p:nvSpPr>
        <p:spPr>
          <a:xfrm>
            <a:off x="914400" y="1764792"/>
            <a:ext cx="73152" cy="420624"/>
          </a:xfrm>
          <a:prstGeom prst="roundRect">
            <a:avLst>
              <a:gd name="adj" fmla="val 50000"/>
            </a:avLst>
          </a:prstGeom>
          <a:solidFill>
            <a:schemeClr val="tx2"/>
          </a:solidFill>
          <a:ln w="12700">
            <a:solidFill>
              <a:schemeClr val="tx2"/>
            </a:solidFill>
            <a:prstDash val="solid"/>
          </a:ln>
        </p:spPr>
      </p:sp>
      <p:sp>
        <p:nvSpPr>
          <p:cNvPr id="4" name="Estación 1"/>
          <p:cNvSpPr/>
          <p:nvPr/>
        </p:nvSpPr>
        <p:spPr>
          <a:xfrm>
            <a:off x="822960" y="1536192"/>
            <a:ext cx="256032" cy="256032"/>
          </a:xfrm>
          <a:prstGeom prst="ellipse">
            <a:avLst/>
          </a:prstGeom>
          <a:solidFill>
            <a:schemeClr val="bg2"/>
          </a:solidFill>
          <a:ln w="38100">
            <a:solidFill>
              <a:schemeClr val="tx2"/>
            </a:solidFill>
            <a:prstDash val="solid"/>
          </a:ln>
        </p:spPr>
      </p:sp>
      <p:sp>
        <p:nvSpPr>
          <p:cNvPr id="5" name="Paso 1"/>
          <p:cNvSpPr txBox="1"/>
          <p:nvPr/>
        </p:nvSpPr>
        <p:spPr>
          <a:xfrm>
            <a:off x="1325880" y="1508760"/>
            <a:ext cx="4206240" cy="292608"/>
          </a:xfrm>
          <a:prstGeom prst="rect">
            <a:avLst/>
          </a:prstGeom>
          <a:noFill/>
          <a:ln/>
        </p:spPr>
        <p:txBody>
          <a:bodyPr wrap="square" lIns="0" tIns="0" rIns="0" bIns="0" rtlCol="0" anchor="t"/>
          <a:lstStyle/>
          <a:p>
            <a:pPr indent="0" marL="0">
              <a:buNone/>
            </a:pPr>
            <a:r>
              <a:rPr lang="en-US" sz="1800" b="1" dirty="0">
                <a:solidFill>
                  <a:schemeClr val="tx1"/>
                </a:solidFill>
              </a:rPr>
              <a:t>Solicitud recibida</a:t>
            </a:r>
            <a:endParaRPr lang="en-US" sz="1800" dirty="0"/>
          </a:p>
        </p:txBody>
      </p:sp>
      <p:sp>
        <p:nvSpPr>
          <p:cNvPr id="6" name="Detalle 1"/>
          <p:cNvSpPr txBox="1"/>
          <p:nvPr/>
        </p:nvSpPr>
        <p:spPr>
          <a:xfrm>
            <a:off x="1325880" y="1819656"/>
            <a:ext cx="4206240" cy="274320"/>
          </a:xfrm>
          <a:prstGeom prst="rect">
            <a:avLst/>
          </a:prstGeom>
          <a:noFill/>
          <a:ln/>
        </p:spPr>
        <p:txBody>
          <a:bodyPr wrap="square" lIns="0" tIns="0" rIns="0" bIns="0" rtlCol="0" anchor="t"/>
          <a:lstStyle/>
          <a:p>
            <a:pPr indent="0" marL="0">
              <a:buNone/>
            </a:pPr>
            <a:r>
              <a:rPr lang="en-US" sz="1200" dirty="0">
                <a:solidFill>
                  <a:schemeClr val="tx2"/>
                </a:solidFill>
              </a:rPr>
              <a:t>POST /v1/notifications · 202</a:t>
            </a:r>
            <a:endParaRPr lang="en-US" sz="1200" dirty="0"/>
          </a:p>
        </p:txBody>
      </p:sp>
      <p:sp>
        <p:nvSpPr>
          <p:cNvPr id="7" name="Tiempo 1"/>
          <p:cNvSpPr txBox="1"/>
          <p:nvPr/>
        </p:nvSpPr>
        <p:spPr>
          <a:xfrm>
            <a:off x="5577840" y="1527048"/>
            <a:ext cx="1188720" cy="274320"/>
          </a:xfrm>
          <a:prstGeom prst="rect">
            <a:avLst/>
          </a:prstGeom>
          <a:noFill/>
          <a:ln/>
        </p:spPr>
        <p:txBody>
          <a:bodyPr wrap="square" lIns="0" tIns="0" rIns="0" bIns="0" rtlCol="0" anchor="t"/>
          <a:lstStyle/>
          <a:p>
            <a:pPr algn="r" indent="0" marL="0">
              <a:buNone/>
            </a:pPr>
            <a:r>
              <a:rPr lang="en-US" sz="1400" dirty="0">
                <a:solidFill>
                  <a:schemeClr val="tx2"/>
                </a:solidFill>
                <a:latin typeface="Courier New" pitchFamily="34" charset="0"/>
                <a:ea typeface="Courier New" pitchFamily="34" charset="-122"/>
                <a:cs typeface="Courier New" pitchFamily="34" charset="-120"/>
              </a:rPr>
              <a:t>+0 ms</a:t>
            </a:r>
            <a:endParaRPr lang="en-US" sz="1400" dirty="0"/>
          </a:p>
        </p:txBody>
      </p:sp>
      <p:sp>
        <p:nvSpPr>
          <p:cNvPr id="8" name="Riel 2"/>
          <p:cNvSpPr/>
          <p:nvPr/>
        </p:nvSpPr>
        <p:spPr>
          <a:xfrm>
            <a:off x="914400" y="2459736"/>
            <a:ext cx="73152" cy="420624"/>
          </a:xfrm>
          <a:prstGeom prst="roundRect">
            <a:avLst>
              <a:gd name="adj" fmla="val 50000"/>
            </a:avLst>
          </a:prstGeom>
          <a:solidFill>
            <a:schemeClr val="accent4"/>
          </a:solidFill>
          <a:ln w="12700">
            <a:solidFill>
              <a:schemeClr val="accent4"/>
            </a:solidFill>
            <a:prstDash val="solid"/>
          </a:ln>
        </p:spPr>
      </p:sp>
      <p:sp>
        <p:nvSpPr>
          <p:cNvPr id="9" name="Estación 2"/>
          <p:cNvSpPr/>
          <p:nvPr/>
        </p:nvSpPr>
        <p:spPr>
          <a:xfrm>
            <a:off x="822960" y="2231136"/>
            <a:ext cx="256032" cy="256032"/>
          </a:xfrm>
          <a:prstGeom prst="ellipse">
            <a:avLst/>
          </a:prstGeom>
          <a:solidFill>
            <a:schemeClr val="bg2"/>
          </a:solidFill>
          <a:ln w="38100">
            <a:solidFill>
              <a:schemeClr val="accent4"/>
            </a:solidFill>
            <a:prstDash val="solid"/>
          </a:ln>
        </p:spPr>
      </p:sp>
      <p:sp>
        <p:nvSpPr>
          <p:cNvPr id="10" name="Paso 2"/>
          <p:cNvSpPr txBox="1"/>
          <p:nvPr/>
        </p:nvSpPr>
        <p:spPr>
          <a:xfrm>
            <a:off x="1325880" y="2203704"/>
            <a:ext cx="4206240" cy="292608"/>
          </a:xfrm>
          <a:prstGeom prst="rect">
            <a:avLst/>
          </a:prstGeom>
          <a:noFill/>
          <a:ln/>
        </p:spPr>
        <p:txBody>
          <a:bodyPr wrap="square" lIns="0" tIns="0" rIns="0" bIns="0" rtlCol="0" anchor="t"/>
          <a:lstStyle/>
          <a:p>
            <a:pPr indent="0" marL="0">
              <a:buNone/>
            </a:pPr>
            <a:r>
              <a:rPr lang="en-US" sz="1800" b="1" dirty="0">
                <a:solidFill>
                  <a:schemeClr val="tx1"/>
                </a:solidFill>
              </a:rPr>
              <a:t>Encolada</a:t>
            </a:r>
            <a:endParaRPr lang="en-US" sz="1800" dirty="0"/>
          </a:p>
        </p:txBody>
      </p:sp>
      <p:sp>
        <p:nvSpPr>
          <p:cNvPr id="11" name="Detalle 2"/>
          <p:cNvSpPr txBox="1"/>
          <p:nvPr/>
        </p:nvSpPr>
        <p:spPr>
          <a:xfrm>
            <a:off x="1325880" y="2514600"/>
            <a:ext cx="4206240" cy="274320"/>
          </a:xfrm>
          <a:prstGeom prst="rect">
            <a:avLst/>
          </a:prstGeom>
          <a:noFill/>
          <a:ln/>
        </p:spPr>
        <p:txBody>
          <a:bodyPr wrap="square" lIns="0" tIns="0" rIns="0" bIns="0" rtlCol="0" anchor="t"/>
          <a:lstStyle/>
          <a:p>
            <a:pPr indent="0" marL="0">
              <a:buNone/>
            </a:pPr>
            <a:r>
              <a:rPr lang="en-US" sz="1200" dirty="0">
                <a:solidFill>
                  <a:schemeClr val="tx2"/>
                </a:solidFill>
              </a:rPr>
              <a:t>Cola de prioridad media</a:t>
            </a:r>
            <a:endParaRPr lang="en-US" sz="1200" dirty="0"/>
          </a:p>
        </p:txBody>
      </p:sp>
      <p:sp>
        <p:nvSpPr>
          <p:cNvPr id="12" name="Tiempo 2"/>
          <p:cNvSpPr txBox="1"/>
          <p:nvPr/>
        </p:nvSpPr>
        <p:spPr>
          <a:xfrm>
            <a:off x="5577840" y="2221992"/>
            <a:ext cx="1188720" cy="274320"/>
          </a:xfrm>
          <a:prstGeom prst="rect">
            <a:avLst/>
          </a:prstGeom>
          <a:noFill/>
          <a:ln/>
        </p:spPr>
        <p:txBody>
          <a:bodyPr wrap="square" lIns="0" tIns="0" rIns="0" bIns="0" rtlCol="0" anchor="t"/>
          <a:lstStyle/>
          <a:p>
            <a:pPr algn="r" indent="0" marL="0">
              <a:buNone/>
            </a:pPr>
            <a:r>
              <a:rPr lang="en-US" sz="1400" dirty="0">
                <a:solidFill>
                  <a:schemeClr val="tx2"/>
                </a:solidFill>
                <a:latin typeface="Courier New" pitchFamily="34" charset="0"/>
                <a:ea typeface="Courier New" pitchFamily="34" charset="-122"/>
                <a:cs typeface="Courier New" pitchFamily="34" charset="-120"/>
              </a:rPr>
              <a:t>+20 ms</a:t>
            </a:r>
            <a:endParaRPr lang="en-US" sz="1400" dirty="0"/>
          </a:p>
        </p:txBody>
      </p:sp>
      <p:sp>
        <p:nvSpPr>
          <p:cNvPr id="13" name="Riel 3"/>
          <p:cNvSpPr/>
          <p:nvPr/>
        </p:nvSpPr>
        <p:spPr>
          <a:xfrm>
            <a:off x="914400" y="3154680"/>
            <a:ext cx="73152" cy="420624"/>
          </a:xfrm>
          <a:prstGeom prst="roundRect">
            <a:avLst>
              <a:gd name="adj" fmla="val 50000"/>
            </a:avLst>
          </a:prstGeom>
          <a:solidFill>
            <a:schemeClr val="accent4"/>
          </a:solidFill>
          <a:ln w="12700">
            <a:solidFill>
              <a:schemeClr val="accent4"/>
            </a:solidFill>
            <a:prstDash val="solid"/>
          </a:ln>
        </p:spPr>
      </p:sp>
      <p:sp>
        <p:nvSpPr>
          <p:cNvPr id="14" name="Estación 3"/>
          <p:cNvSpPr/>
          <p:nvPr/>
        </p:nvSpPr>
        <p:spPr>
          <a:xfrm>
            <a:off x="822960" y="2926080"/>
            <a:ext cx="256032" cy="256032"/>
          </a:xfrm>
          <a:prstGeom prst="ellipse">
            <a:avLst/>
          </a:prstGeom>
          <a:solidFill>
            <a:schemeClr val="bg2"/>
          </a:solidFill>
          <a:ln w="38100">
            <a:solidFill>
              <a:schemeClr val="accent4"/>
            </a:solidFill>
            <a:prstDash val="solid"/>
          </a:ln>
        </p:spPr>
      </p:sp>
      <p:sp>
        <p:nvSpPr>
          <p:cNvPr id="15" name="Paso 3"/>
          <p:cNvSpPr txBox="1"/>
          <p:nvPr/>
        </p:nvSpPr>
        <p:spPr>
          <a:xfrm>
            <a:off x="1325880" y="2898648"/>
            <a:ext cx="4206240" cy="292608"/>
          </a:xfrm>
          <a:prstGeom prst="rect">
            <a:avLst/>
          </a:prstGeom>
          <a:noFill/>
          <a:ln/>
        </p:spPr>
        <p:txBody>
          <a:bodyPr wrap="square" lIns="0" tIns="0" rIns="0" bIns="0" rtlCol="0" anchor="t"/>
          <a:lstStyle/>
          <a:p>
            <a:pPr indent="0" marL="0">
              <a:buNone/>
            </a:pPr>
            <a:r>
              <a:rPr lang="en-US" sz="1800" b="1" dirty="0">
                <a:solidFill>
                  <a:schemeClr val="tx1"/>
                </a:solidFill>
              </a:rPr>
              <a:t>Intento 1 · fcm</a:t>
            </a:r>
            <a:endParaRPr lang="en-US" sz="1800" dirty="0"/>
          </a:p>
        </p:txBody>
      </p:sp>
      <p:sp>
        <p:nvSpPr>
          <p:cNvPr id="16" name="Detalle 3"/>
          <p:cNvSpPr txBox="1"/>
          <p:nvPr/>
        </p:nvSpPr>
        <p:spPr>
          <a:xfrm>
            <a:off x="1325880" y="3209544"/>
            <a:ext cx="4206240" cy="274320"/>
          </a:xfrm>
          <a:prstGeom prst="rect">
            <a:avLst/>
          </a:prstGeom>
          <a:noFill/>
          <a:ln/>
        </p:spPr>
        <p:txBody>
          <a:bodyPr wrap="square" lIns="0" tIns="0" rIns="0" bIns="0" rtlCol="0" anchor="t"/>
          <a:lstStyle/>
          <a:p>
            <a:pPr indent="0" marL="0">
              <a:buNone/>
            </a:pPr>
            <a:r>
              <a:rPr lang="en-US" sz="1200" dirty="0">
                <a:solidFill>
                  <a:schemeClr val="tx2"/>
                </a:solidFill>
              </a:rPr>
              <a:t>Push · 503 UNAVAILABLE</a:t>
            </a:r>
            <a:endParaRPr lang="en-US" sz="1200" dirty="0"/>
          </a:p>
        </p:txBody>
      </p:sp>
      <p:sp>
        <p:nvSpPr>
          <p:cNvPr id="17" name="Tiempo 3"/>
          <p:cNvSpPr txBox="1"/>
          <p:nvPr/>
        </p:nvSpPr>
        <p:spPr>
          <a:xfrm>
            <a:off x="5577840" y="2916936"/>
            <a:ext cx="1188720" cy="274320"/>
          </a:xfrm>
          <a:prstGeom prst="rect">
            <a:avLst/>
          </a:prstGeom>
          <a:noFill/>
          <a:ln/>
        </p:spPr>
        <p:txBody>
          <a:bodyPr wrap="square" lIns="0" tIns="0" rIns="0" bIns="0" rtlCol="0" anchor="t"/>
          <a:lstStyle/>
          <a:p>
            <a:pPr algn="r" indent="0" marL="0">
              <a:buNone/>
            </a:pPr>
            <a:r>
              <a:rPr lang="en-US" sz="1400" dirty="0">
                <a:solidFill>
                  <a:schemeClr val="tx2"/>
                </a:solidFill>
                <a:latin typeface="Courier New" pitchFamily="34" charset="0"/>
                <a:ea typeface="Courier New" pitchFamily="34" charset="-122"/>
                <a:cs typeface="Courier New" pitchFamily="34" charset="-120"/>
              </a:rPr>
              <a:t>+2.32 s</a:t>
            </a:r>
            <a:endParaRPr lang="en-US" sz="1400" dirty="0"/>
          </a:p>
        </p:txBody>
      </p:sp>
      <p:sp>
        <p:nvSpPr>
          <p:cNvPr id="18" name="Riel 4"/>
          <p:cNvSpPr/>
          <p:nvPr/>
        </p:nvSpPr>
        <p:spPr>
          <a:xfrm>
            <a:off x="914400" y="3849624"/>
            <a:ext cx="73152" cy="420624"/>
          </a:xfrm>
          <a:prstGeom prst="roundRect">
            <a:avLst>
              <a:gd name="adj" fmla="val 50000"/>
            </a:avLst>
          </a:prstGeom>
          <a:solidFill>
            <a:schemeClr val="accent4"/>
          </a:solidFill>
          <a:ln w="12700">
            <a:solidFill>
              <a:schemeClr val="accent4"/>
            </a:solidFill>
            <a:prstDash val="solid"/>
          </a:ln>
        </p:spPr>
      </p:sp>
      <p:sp>
        <p:nvSpPr>
          <p:cNvPr id="19" name="Estación 4"/>
          <p:cNvSpPr/>
          <p:nvPr/>
        </p:nvSpPr>
        <p:spPr>
          <a:xfrm>
            <a:off x="822960" y="3621024"/>
            <a:ext cx="256032" cy="256032"/>
          </a:xfrm>
          <a:prstGeom prst="ellipse">
            <a:avLst/>
          </a:prstGeom>
          <a:solidFill>
            <a:schemeClr val="bg2"/>
          </a:solidFill>
          <a:ln w="38100">
            <a:solidFill>
              <a:schemeClr val="accent4"/>
            </a:solidFill>
            <a:prstDash val="solid"/>
          </a:ln>
        </p:spPr>
      </p:sp>
      <p:sp>
        <p:nvSpPr>
          <p:cNvPr id="20" name="Paso 4"/>
          <p:cNvSpPr txBox="1"/>
          <p:nvPr/>
        </p:nvSpPr>
        <p:spPr>
          <a:xfrm>
            <a:off x="1325880" y="3593592"/>
            <a:ext cx="4206240" cy="292608"/>
          </a:xfrm>
          <a:prstGeom prst="rect">
            <a:avLst/>
          </a:prstGeom>
          <a:noFill/>
          <a:ln/>
        </p:spPr>
        <p:txBody>
          <a:bodyPr wrap="square" lIns="0" tIns="0" rIns="0" bIns="0" rtlCol="0" anchor="t"/>
          <a:lstStyle/>
          <a:p>
            <a:pPr indent="0" marL="0">
              <a:buNone/>
            </a:pPr>
            <a:r>
              <a:rPr lang="en-US" sz="1800" b="1" dirty="0">
                <a:solidFill>
                  <a:schemeClr val="tx1"/>
                </a:solidFill>
              </a:rPr>
              <a:t>Intento 2 · fcm</a:t>
            </a:r>
            <a:endParaRPr lang="en-US" sz="1800" dirty="0"/>
          </a:p>
        </p:txBody>
      </p:sp>
      <p:sp>
        <p:nvSpPr>
          <p:cNvPr id="21" name="Detalle 4"/>
          <p:cNvSpPr txBox="1"/>
          <p:nvPr/>
        </p:nvSpPr>
        <p:spPr>
          <a:xfrm>
            <a:off x="1325880" y="3904488"/>
            <a:ext cx="4206240" cy="274320"/>
          </a:xfrm>
          <a:prstGeom prst="rect">
            <a:avLst/>
          </a:prstGeom>
          <a:noFill/>
          <a:ln/>
        </p:spPr>
        <p:txBody>
          <a:bodyPr wrap="square" lIns="0" tIns="0" rIns="0" bIns="0" rtlCol="0" anchor="t"/>
          <a:lstStyle/>
          <a:p>
            <a:pPr indent="0" marL="0">
              <a:buNone/>
            </a:pPr>
            <a:r>
              <a:rPr lang="en-US" sz="1200" dirty="0">
                <a:solidFill>
                  <a:schemeClr val="tx2"/>
                </a:solidFill>
              </a:rPr>
              <a:t>Push · 503 UNAVAILABLE</a:t>
            </a:r>
            <a:endParaRPr lang="en-US" sz="1200" dirty="0"/>
          </a:p>
        </p:txBody>
      </p:sp>
      <p:sp>
        <p:nvSpPr>
          <p:cNvPr id="22" name="Tiempo 4"/>
          <p:cNvSpPr txBox="1"/>
          <p:nvPr/>
        </p:nvSpPr>
        <p:spPr>
          <a:xfrm>
            <a:off x="5577840" y="3611880"/>
            <a:ext cx="1188720" cy="274320"/>
          </a:xfrm>
          <a:prstGeom prst="rect">
            <a:avLst/>
          </a:prstGeom>
          <a:noFill/>
          <a:ln/>
        </p:spPr>
        <p:txBody>
          <a:bodyPr wrap="square" lIns="0" tIns="0" rIns="0" bIns="0" rtlCol="0" anchor="t"/>
          <a:lstStyle/>
          <a:p>
            <a:pPr algn="r" indent="0" marL="0">
              <a:buNone/>
            </a:pPr>
            <a:r>
              <a:rPr lang="en-US" sz="1400" dirty="0">
                <a:solidFill>
                  <a:schemeClr val="tx2"/>
                </a:solidFill>
                <a:latin typeface="Courier New" pitchFamily="34" charset="0"/>
                <a:ea typeface="Courier New" pitchFamily="34" charset="-122"/>
                <a:cs typeface="Courier New" pitchFamily="34" charset="-120"/>
              </a:rPr>
              <a:t>+3.07 s</a:t>
            </a:r>
            <a:endParaRPr lang="en-US" sz="1400" dirty="0"/>
          </a:p>
        </p:txBody>
      </p:sp>
      <p:sp>
        <p:nvSpPr>
          <p:cNvPr id="23" name="Riel 5"/>
          <p:cNvSpPr/>
          <p:nvPr/>
        </p:nvSpPr>
        <p:spPr>
          <a:xfrm>
            <a:off x="914400" y="4544568"/>
            <a:ext cx="73152" cy="420624"/>
          </a:xfrm>
          <a:prstGeom prst="roundRect">
            <a:avLst>
              <a:gd name="adj" fmla="val 50000"/>
            </a:avLst>
          </a:prstGeom>
          <a:solidFill>
            <a:schemeClr val="accent4"/>
          </a:solidFill>
          <a:ln w="12700">
            <a:solidFill>
              <a:schemeClr val="accent4"/>
            </a:solidFill>
            <a:prstDash val="solid"/>
          </a:ln>
        </p:spPr>
      </p:sp>
      <p:sp>
        <p:nvSpPr>
          <p:cNvPr id="24" name="Estación 5"/>
          <p:cNvSpPr/>
          <p:nvPr/>
        </p:nvSpPr>
        <p:spPr>
          <a:xfrm>
            <a:off x="822960" y="4315968"/>
            <a:ext cx="256032" cy="256032"/>
          </a:xfrm>
          <a:prstGeom prst="ellipse">
            <a:avLst/>
          </a:prstGeom>
          <a:solidFill>
            <a:schemeClr val="bg2"/>
          </a:solidFill>
          <a:ln w="38100">
            <a:solidFill>
              <a:schemeClr val="accent4"/>
            </a:solidFill>
            <a:prstDash val="solid"/>
          </a:ln>
        </p:spPr>
      </p:sp>
      <p:sp>
        <p:nvSpPr>
          <p:cNvPr id="25" name="Paso 5"/>
          <p:cNvSpPr txBox="1"/>
          <p:nvPr/>
        </p:nvSpPr>
        <p:spPr>
          <a:xfrm>
            <a:off x="1325880" y="4288536"/>
            <a:ext cx="4206240" cy="292608"/>
          </a:xfrm>
          <a:prstGeom prst="rect">
            <a:avLst/>
          </a:prstGeom>
          <a:noFill/>
          <a:ln/>
        </p:spPr>
        <p:txBody>
          <a:bodyPr wrap="square" lIns="0" tIns="0" rIns="0" bIns="0" rtlCol="0" anchor="t"/>
          <a:lstStyle/>
          <a:p>
            <a:pPr indent="0" marL="0">
              <a:buNone/>
            </a:pPr>
            <a:r>
              <a:rPr lang="en-US" sz="1800" b="1" dirty="0">
                <a:solidFill>
                  <a:schemeClr val="tx1"/>
                </a:solidFill>
              </a:rPr>
              <a:t>Intento 3 · fcm</a:t>
            </a:r>
            <a:endParaRPr lang="en-US" sz="1800" dirty="0"/>
          </a:p>
        </p:txBody>
      </p:sp>
      <p:sp>
        <p:nvSpPr>
          <p:cNvPr id="26" name="Detalle 5"/>
          <p:cNvSpPr txBox="1"/>
          <p:nvPr/>
        </p:nvSpPr>
        <p:spPr>
          <a:xfrm>
            <a:off x="1325880" y="4599432"/>
            <a:ext cx="4206240" cy="274320"/>
          </a:xfrm>
          <a:prstGeom prst="rect">
            <a:avLst/>
          </a:prstGeom>
          <a:noFill/>
          <a:ln/>
        </p:spPr>
        <p:txBody>
          <a:bodyPr wrap="square" lIns="0" tIns="0" rIns="0" bIns="0" rtlCol="0" anchor="t"/>
          <a:lstStyle/>
          <a:p>
            <a:pPr indent="0" marL="0">
              <a:buNone/>
            </a:pPr>
            <a:r>
              <a:rPr lang="en-US" sz="1200" dirty="0">
                <a:solidFill>
                  <a:schemeClr val="tx2"/>
                </a:solidFill>
              </a:rPr>
              <a:t>Push · 503 UNAVAILABLE</a:t>
            </a:r>
            <a:endParaRPr lang="en-US" sz="1200" dirty="0"/>
          </a:p>
        </p:txBody>
      </p:sp>
      <p:sp>
        <p:nvSpPr>
          <p:cNvPr id="27" name="Tiempo 5"/>
          <p:cNvSpPr txBox="1"/>
          <p:nvPr/>
        </p:nvSpPr>
        <p:spPr>
          <a:xfrm>
            <a:off x="5577840" y="4306824"/>
            <a:ext cx="1188720" cy="274320"/>
          </a:xfrm>
          <a:prstGeom prst="rect">
            <a:avLst/>
          </a:prstGeom>
          <a:noFill/>
          <a:ln/>
        </p:spPr>
        <p:txBody>
          <a:bodyPr wrap="square" lIns="0" tIns="0" rIns="0" bIns="0" rtlCol="0" anchor="t"/>
          <a:lstStyle/>
          <a:p>
            <a:pPr algn="r" indent="0" marL="0">
              <a:buNone/>
            </a:pPr>
            <a:r>
              <a:rPr lang="en-US" sz="1400" dirty="0">
                <a:solidFill>
                  <a:schemeClr val="tx2"/>
                </a:solidFill>
                <a:latin typeface="Courier New" pitchFamily="34" charset="0"/>
                <a:ea typeface="Courier New" pitchFamily="34" charset="-122"/>
                <a:cs typeface="Courier New" pitchFamily="34" charset="-120"/>
              </a:rPr>
              <a:t>+4.23 s</a:t>
            </a:r>
            <a:endParaRPr lang="en-US" sz="1400" dirty="0"/>
          </a:p>
        </p:txBody>
      </p:sp>
      <p:sp>
        <p:nvSpPr>
          <p:cNvPr id="28" name="Riel 6"/>
          <p:cNvSpPr/>
          <p:nvPr/>
        </p:nvSpPr>
        <p:spPr>
          <a:xfrm>
            <a:off x="914400" y="5239512"/>
            <a:ext cx="73152" cy="420624"/>
          </a:xfrm>
          <a:prstGeom prst="roundRect">
            <a:avLst>
              <a:gd name="adj" fmla="val 50000"/>
            </a:avLst>
          </a:prstGeom>
          <a:solidFill>
            <a:schemeClr val="accent1"/>
          </a:solidFill>
          <a:ln w="12700">
            <a:solidFill>
              <a:schemeClr val="accent1"/>
            </a:solidFill>
            <a:prstDash val="solid"/>
          </a:ln>
        </p:spPr>
      </p:sp>
      <p:sp>
        <p:nvSpPr>
          <p:cNvPr id="29" name="Estación 6"/>
          <p:cNvSpPr/>
          <p:nvPr/>
        </p:nvSpPr>
        <p:spPr>
          <a:xfrm>
            <a:off x="813816" y="5001768"/>
            <a:ext cx="274320" cy="274320"/>
          </a:xfrm>
          <a:prstGeom prst="diamond">
            <a:avLst/>
          </a:prstGeom>
          <a:solidFill>
            <a:schemeClr val="accent1"/>
          </a:solidFill>
          <a:ln w="12700">
            <a:solidFill>
              <a:schemeClr val="accent1"/>
            </a:solidFill>
            <a:prstDash val="solid"/>
          </a:ln>
        </p:spPr>
      </p:sp>
      <p:sp>
        <p:nvSpPr>
          <p:cNvPr id="30" name="Paso 6"/>
          <p:cNvSpPr txBox="1"/>
          <p:nvPr/>
        </p:nvSpPr>
        <p:spPr>
          <a:xfrm>
            <a:off x="1325880" y="4983480"/>
            <a:ext cx="4206240" cy="292608"/>
          </a:xfrm>
          <a:prstGeom prst="rect">
            <a:avLst/>
          </a:prstGeom>
          <a:noFill/>
          <a:ln/>
        </p:spPr>
        <p:txBody>
          <a:bodyPr wrap="square" lIns="0" tIns="0" rIns="0" bIns="0" rtlCol="0" anchor="t"/>
          <a:lstStyle/>
          <a:p>
            <a:pPr indent="0" marL="0">
              <a:buNone/>
            </a:pPr>
            <a:r>
              <a:rPr lang="en-US" sz="1800" b="1" dirty="0">
                <a:solidFill>
                  <a:schemeClr val="accent1"/>
                </a:solidFill>
              </a:rPr>
              <a:t>Transbordo a SMS</a:t>
            </a:r>
            <a:endParaRPr lang="en-US" sz="1800" dirty="0"/>
          </a:p>
        </p:txBody>
      </p:sp>
      <p:sp>
        <p:nvSpPr>
          <p:cNvPr id="31" name="Detalle 6"/>
          <p:cNvSpPr txBox="1"/>
          <p:nvPr/>
        </p:nvSpPr>
        <p:spPr>
          <a:xfrm>
            <a:off x="1325880" y="5294376"/>
            <a:ext cx="4206240" cy="274320"/>
          </a:xfrm>
          <a:prstGeom prst="rect">
            <a:avLst/>
          </a:prstGeom>
          <a:noFill/>
          <a:ln/>
        </p:spPr>
        <p:txBody>
          <a:bodyPr wrap="square" lIns="0" tIns="0" rIns="0" bIns="0" rtlCol="0" anchor="t"/>
          <a:lstStyle/>
          <a:p>
            <a:pPr indent="0" marL="0">
              <a:buNone/>
            </a:pPr>
            <a:r>
              <a:rPr lang="en-US" sz="1200" dirty="0">
                <a:solidFill>
                  <a:schemeClr val="tx2"/>
                </a:solidFill>
              </a:rPr>
              <a:t>Push agotó sus reintentos</a:t>
            </a:r>
            <a:endParaRPr lang="en-US" sz="1200" dirty="0"/>
          </a:p>
        </p:txBody>
      </p:sp>
      <p:sp>
        <p:nvSpPr>
          <p:cNvPr id="32" name="Tiempo 6"/>
          <p:cNvSpPr txBox="1"/>
          <p:nvPr/>
        </p:nvSpPr>
        <p:spPr>
          <a:xfrm>
            <a:off x="5577840" y="5001768"/>
            <a:ext cx="1188720" cy="274320"/>
          </a:xfrm>
          <a:prstGeom prst="rect">
            <a:avLst/>
          </a:prstGeom>
          <a:noFill/>
          <a:ln/>
        </p:spPr>
        <p:txBody>
          <a:bodyPr wrap="square" lIns="0" tIns="0" rIns="0" bIns="0" rtlCol="0" anchor="t"/>
          <a:lstStyle/>
          <a:p>
            <a:pPr algn="r" indent="0" marL="0">
              <a:buNone/>
            </a:pPr>
            <a:r>
              <a:rPr lang="en-US" sz="1400" dirty="0">
                <a:solidFill>
                  <a:schemeClr val="tx2"/>
                </a:solidFill>
                <a:latin typeface="Courier New" pitchFamily="34" charset="0"/>
                <a:ea typeface="Courier New" pitchFamily="34" charset="-122"/>
                <a:cs typeface="Courier New" pitchFamily="34" charset="-120"/>
              </a:rPr>
              <a:t>+4.25 s</a:t>
            </a:r>
            <a:endParaRPr lang="en-US" sz="1400" dirty="0"/>
          </a:p>
        </p:txBody>
      </p:sp>
      <p:sp>
        <p:nvSpPr>
          <p:cNvPr id="33" name="Estación 7"/>
          <p:cNvSpPr/>
          <p:nvPr/>
        </p:nvSpPr>
        <p:spPr>
          <a:xfrm>
            <a:off x="822960" y="5705856"/>
            <a:ext cx="256032" cy="256032"/>
          </a:xfrm>
          <a:prstGeom prst="ellipse">
            <a:avLst/>
          </a:prstGeom>
          <a:solidFill>
            <a:schemeClr val="accent3"/>
          </a:solidFill>
          <a:ln w="38100">
            <a:solidFill>
              <a:schemeClr val="accent3"/>
            </a:solidFill>
            <a:prstDash val="solid"/>
          </a:ln>
        </p:spPr>
      </p:sp>
      <p:sp>
        <p:nvSpPr>
          <p:cNvPr id="34" name="Paso 7"/>
          <p:cNvSpPr txBox="1"/>
          <p:nvPr/>
        </p:nvSpPr>
        <p:spPr>
          <a:xfrm>
            <a:off x="1325880" y="5678424"/>
            <a:ext cx="4206240" cy="292608"/>
          </a:xfrm>
          <a:prstGeom prst="rect">
            <a:avLst/>
          </a:prstGeom>
          <a:noFill/>
          <a:ln/>
        </p:spPr>
        <p:txBody>
          <a:bodyPr wrap="square" lIns="0" tIns="0" rIns="0" bIns="0" rtlCol="0" anchor="t"/>
          <a:lstStyle/>
          <a:p>
            <a:pPr indent="0" marL="0">
              <a:buNone/>
            </a:pPr>
            <a:r>
              <a:rPr lang="en-US" sz="1800" b="1" dirty="0">
                <a:solidFill>
                  <a:schemeClr val="tx1"/>
                </a:solidFill>
              </a:rPr>
              <a:t>Intento 4 · twilio</a:t>
            </a:r>
            <a:endParaRPr lang="en-US" sz="1800" dirty="0"/>
          </a:p>
        </p:txBody>
      </p:sp>
      <p:sp>
        <p:nvSpPr>
          <p:cNvPr id="35" name="Detalle 7"/>
          <p:cNvSpPr txBox="1"/>
          <p:nvPr/>
        </p:nvSpPr>
        <p:spPr>
          <a:xfrm>
            <a:off x="1325880" y="5989320"/>
            <a:ext cx="4206240" cy="274320"/>
          </a:xfrm>
          <a:prstGeom prst="rect">
            <a:avLst/>
          </a:prstGeom>
          <a:noFill/>
          <a:ln/>
        </p:spPr>
        <p:txBody>
          <a:bodyPr wrap="square" lIns="0" tIns="0" rIns="0" bIns="0" rtlCol="0" anchor="t"/>
          <a:lstStyle/>
          <a:p>
            <a:pPr indent="0" marL="0">
              <a:buNone/>
            </a:pPr>
            <a:r>
              <a:rPr lang="en-US" sz="1200" dirty="0">
                <a:solidFill>
                  <a:schemeClr val="tx2"/>
                </a:solidFill>
              </a:rPr>
              <a:t>SMS · entregada al proveedor</a:t>
            </a:r>
            <a:endParaRPr lang="en-US" sz="1200" dirty="0"/>
          </a:p>
        </p:txBody>
      </p:sp>
      <p:sp>
        <p:nvSpPr>
          <p:cNvPr id="36" name="Tiempo 7"/>
          <p:cNvSpPr txBox="1"/>
          <p:nvPr/>
        </p:nvSpPr>
        <p:spPr>
          <a:xfrm>
            <a:off x="5577840" y="5696712"/>
            <a:ext cx="1188720" cy="274320"/>
          </a:xfrm>
          <a:prstGeom prst="rect">
            <a:avLst/>
          </a:prstGeom>
          <a:noFill/>
          <a:ln/>
        </p:spPr>
        <p:txBody>
          <a:bodyPr wrap="square" lIns="0" tIns="0" rIns="0" bIns="0" rtlCol="0" anchor="t"/>
          <a:lstStyle/>
          <a:p>
            <a:pPr algn="r" indent="0" marL="0">
              <a:buNone/>
            </a:pPr>
            <a:r>
              <a:rPr lang="en-US" sz="1400" dirty="0">
                <a:solidFill>
                  <a:schemeClr val="tx2"/>
                </a:solidFill>
                <a:latin typeface="Courier New" pitchFamily="34" charset="0"/>
                <a:ea typeface="Courier New" pitchFamily="34" charset="-122"/>
                <a:cs typeface="Courier New" pitchFamily="34" charset="-120"/>
              </a:rPr>
              <a:t>+4.52 s</a:t>
            </a:r>
            <a:endParaRPr lang="en-US" sz="1400" dirty="0"/>
          </a:p>
        </p:txBody>
      </p:sp>
      <p:sp>
        <p:nvSpPr>
          <p:cNvPr id="37" name="Dato 1"/>
          <p:cNvSpPr/>
          <p:nvPr/>
        </p:nvSpPr>
        <p:spPr>
          <a:xfrm>
            <a:off x="7863840" y="1600200"/>
            <a:ext cx="3794760" cy="1325880"/>
          </a:xfrm>
          <a:prstGeom prst="roundRect">
            <a:avLst>
              <a:gd name="adj" fmla="val 8276"/>
            </a:avLst>
          </a:prstGeom>
          <a:solidFill>
            <a:schemeClr val="bg2"/>
          </a:solidFill>
          <a:ln w="6350">
            <a:solidFill>
              <a:schemeClr val="bg1"/>
            </a:solidFill>
            <a:prstDash val="solid"/>
          </a:ln>
          <a:effectLst>
            <a:outerShdw sx="100000" sy="100000" kx="0" ky="0" algn="bl" rotWithShape="0" blurRad="76200" dist="25400" dir="5400000">
              <a:srgbClr val="000000">
                <a:alpha val="10000"/>
              </a:srgbClr>
            </a:outerShdw>
          </a:effectLst>
        </p:spPr>
      </p:sp>
      <p:sp>
        <p:nvSpPr>
          <p:cNvPr id="38" name="Cifra 1"/>
          <p:cNvSpPr txBox="1"/>
          <p:nvPr/>
        </p:nvSpPr>
        <p:spPr>
          <a:xfrm>
            <a:off x="8138160" y="1709928"/>
            <a:ext cx="3291840" cy="548640"/>
          </a:xfrm>
          <a:prstGeom prst="rect">
            <a:avLst/>
          </a:prstGeom>
          <a:noFill/>
          <a:ln/>
        </p:spPr>
        <p:txBody>
          <a:bodyPr wrap="square" lIns="0" tIns="0" rIns="0" bIns="0" rtlCol="0" anchor="t"/>
          <a:lstStyle/>
          <a:p>
            <a:pPr indent="0" marL="0">
              <a:buNone/>
            </a:pPr>
            <a:r>
              <a:rPr lang="en-US" sz="3000" b="1" dirty="0">
                <a:solidFill>
                  <a:schemeClr val="tx1"/>
                </a:solidFill>
              </a:rPr>
              <a:t>3 intentos</a:t>
            </a:r>
            <a:endParaRPr lang="en-US" sz="3000" dirty="0"/>
          </a:p>
        </p:txBody>
      </p:sp>
      <p:sp>
        <p:nvSpPr>
          <p:cNvPr id="39" name="Explicación 1"/>
          <p:cNvSpPr txBox="1"/>
          <p:nvPr/>
        </p:nvSpPr>
        <p:spPr>
          <a:xfrm>
            <a:off x="8138160" y="2313432"/>
            <a:ext cx="3291840" cy="548640"/>
          </a:xfrm>
          <a:prstGeom prst="rect">
            <a:avLst/>
          </a:prstGeom>
          <a:noFill/>
          <a:ln/>
        </p:spPr>
        <p:txBody>
          <a:bodyPr wrap="square" lIns="0" tIns="0" rIns="0" bIns="0" rtlCol="0" anchor="t"/>
          <a:lstStyle/>
          <a:p>
            <a:pPr indent="0" marL="0">
              <a:buNone/>
            </a:pPr>
            <a:r>
              <a:rPr lang="en-US" sz="1400" dirty="0">
                <a:solidFill>
                  <a:schemeClr val="tx2"/>
                </a:solidFill>
              </a:rPr>
              <a:t>por proveedor, con espera de 0.5 s y 1 s entre ellos</a:t>
            </a:r>
            <a:endParaRPr lang="en-US" sz="1400" dirty="0"/>
          </a:p>
        </p:txBody>
      </p:sp>
      <p:sp>
        <p:nvSpPr>
          <p:cNvPr id="40" name="Dato 2"/>
          <p:cNvSpPr/>
          <p:nvPr/>
        </p:nvSpPr>
        <p:spPr>
          <a:xfrm>
            <a:off x="7863840" y="3154680"/>
            <a:ext cx="3794760" cy="1325880"/>
          </a:xfrm>
          <a:prstGeom prst="roundRect">
            <a:avLst>
              <a:gd name="adj" fmla="val 8276"/>
            </a:avLst>
          </a:prstGeom>
          <a:solidFill>
            <a:schemeClr val="bg2"/>
          </a:solidFill>
          <a:ln w="6350">
            <a:solidFill>
              <a:schemeClr val="bg1"/>
            </a:solidFill>
            <a:prstDash val="solid"/>
          </a:ln>
          <a:effectLst>
            <a:outerShdw sx="100000" sy="100000" kx="0" ky="0" algn="bl" rotWithShape="0" blurRad="76200" dist="25400" dir="5400000">
              <a:srgbClr val="000000">
                <a:alpha val="10000"/>
              </a:srgbClr>
            </a:outerShdw>
          </a:effectLst>
        </p:spPr>
      </p:sp>
      <p:sp>
        <p:nvSpPr>
          <p:cNvPr id="41" name="Cifra 2"/>
          <p:cNvSpPr txBox="1"/>
          <p:nvPr/>
        </p:nvSpPr>
        <p:spPr>
          <a:xfrm>
            <a:off x="8138160" y="3264408"/>
            <a:ext cx="3291840" cy="548640"/>
          </a:xfrm>
          <a:prstGeom prst="rect">
            <a:avLst/>
          </a:prstGeom>
          <a:noFill/>
          <a:ln/>
        </p:spPr>
        <p:txBody>
          <a:bodyPr wrap="square" lIns="0" tIns="0" rIns="0" bIns="0" rtlCol="0" anchor="t"/>
          <a:lstStyle/>
          <a:p>
            <a:pPr indent="0" marL="0">
              <a:buNone/>
            </a:pPr>
            <a:r>
              <a:rPr lang="en-US" sz="3000" b="1" dirty="0">
                <a:solidFill>
                  <a:schemeClr val="accent1"/>
                </a:solidFill>
              </a:rPr>
              <a:t>Transbordo</a:t>
            </a:r>
            <a:endParaRPr lang="en-US" sz="3000" dirty="0"/>
          </a:p>
        </p:txBody>
      </p:sp>
      <p:sp>
        <p:nvSpPr>
          <p:cNvPr id="42" name="Explicación 2"/>
          <p:cNvSpPr txBox="1"/>
          <p:nvPr/>
        </p:nvSpPr>
        <p:spPr>
          <a:xfrm>
            <a:off x="8138160" y="3867912"/>
            <a:ext cx="3291840" cy="548640"/>
          </a:xfrm>
          <a:prstGeom prst="rect">
            <a:avLst/>
          </a:prstGeom>
          <a:noFill/>
          <a:ln/>
        </p:spPr>
        <p:txBody>
          <a:bodyPr wrap="square" lIns="0" tIns="0" rIns="0" bIns="0" rtlCol="0" anchor="t"/>
          <a:lstStyle/>
          <a:p>
            <a:pPr indent="0" marL="0">
              <a:buNone/>
            </a:pPr>
            <a:r>
              <a:rPr lang="en-US" sz="1400" dirty="0">
                <a:solidFill>
                  <a:schemeClr val="tx2"/>
                </a:solidFill>
              </a:rPr>
              <a:t>Push agotó sus reintentos, así que el despachador pasa a SMS</a:t>
            </a:r>
            <a:endParaRPr lang="en-US" sz="1400" dirty="0"/>
          </a:p>
        </p:txBody>
      </p:sp>
      <p:sp>
        <p:nvSpPr>
          <p:cNvPr id="43" name="Dato 3"/>
          <p:cNvSpPr/>
          <p:nvPr/>
        </p:nvSpPr>
        <p:spPr>
          <a:xfrm>
            <a:off x="7863840" y="4709160"/>
            <a:ext cx="3794760" cy="1325880"/>
          </a:xfrm>
          <a:prstGeom prst="roundRect">
            <a:avLst>
              <a:gd name="adj" fmla="val 8276"/>
            </a:avLst>
          </a:prstGeom>
          <a:solidFill>
            <a:schemeClr val="bg2"/>
          </a:solidFill>
          <a:ln w="6350">
            <a:solidFill>
              <a:schemeClr val="bg1"/>
            </a:solidFill>
            <a:prstDash val="solid"/>
          </a:ln>
          <a:effectLst>
            <a:outerShdw sx="100000" sy="100000" kx="0" ky="0" algn="bl" rotWithShape="0" blurRad="76200" dist="25400" dir="5400000">
              <a:srgbClr val="000000">
                <a:alpha val="10000"/>
              </a:srgbClr>
            </a:outerShdw>
          </a:effectLst>
        </p:spPr>
      </p:sp>
      <p:sp>
        <p:nvSpPr>
          <p:cNvPr id="44" name="Cifra 3"/>
          <p:cNvSpPr txBox="1"/>
          <p:nvPr/>
        </p:nvSpPr>
        <p:spPr>
          <a:xfrm>
            <a:off x="8138160" y="4818888"/>
            <a:ext cx="3291840" cy="548640"/>
          </a:xfrm>
          <a:prstGeom prst="rect">
            <a:avLst/>
          </a:prstGeom>
          <a:noFill/>
          <a:ln/>
        </p:spPr>
        <p:txBody>
          <a:bodyPr wrap="square" lIns="0" tIns="0" rIns="0" bIns="0" rtlCol="0" anchor="t"/>
          <a:lstStyle/>
          <a:p>
            <a:pPr indent="0" marL="0">
              <a:buNone/>
            </a:pPr>
            <a:r>
              <a:rPr lang="en-US" sz="3000" b="1" dirty="0">
                <a:solidFill>
                  <a:schemeClr val="tx1"/>
                </a:solidFill>
              </a:rPr>
              <a:t>4.5 s</a:t>
            </a:r>
            <a:endParaRPr lang="en-US" sz="3000" dirty="0"/>
          </a:p>
        </p:txBody>
      </p:sp>
      <p:sp>
        <p:nvSpPr>
          <p:cNvPr id="45" name="Explicación 3"/>
          <p:cNvSpPr txBox="1"/>
          <p:nvPr/>
        </p:nvSpPr>
        <p:spPr>
          <a:xfrm>
            <a:off x="8138160" y="5422392"/>
            <a:ext cx="3291840" cy="548640"/>
          </a:xfrm>
          <a:prstGeom prst="rect">
            <a:avLst/>
          </a:prstGeom>
          <a:noFill/>
          <a:ln/>
        </p:spPr>
        <p:txBody>
          <a:bodyPr wrap="square" lIns="0" tIns="0" rIns="0" bIns="0" rtlCol="0" anchor="t"/>
          <a:lstStyle/>
          <a:p>
            <a:pPr indent="0" marL="0">
              <a:buNone/>
            </a:pPr>
            <a:r>
              <a:rPr lang="en-US" sz="1400" dirty="0">
                <a:solidFill>
                  <a:schemeClr val="tx2"/>
                </a:solidFill>
              </a:rPr>
              <a:t>de la solicitud a la entrega, medido por la API</a:t>
            </a:r>
            <a:endParaRPr lang="en-US" sz="14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Todo en el plan gratuito de Cloudflare</a:t>
            </a:r>
            <a:endParaRPr lang="en-US" sz="3200" dirty="0"/>
          </a:p>
        </p:txBody>
      </p:sp>
      <p:sp>
        <p:nvSpPr>
          <p:cNvPr id="3" name="Consola"/>
          <p:cNvSpPr/>
          <p:nvPr/>
        </p:nvSpPr>
        <p:spPr>
          <a:xfrm>
            <a:off x="548640" y="1645920"/>
            <a:ext cx="2468880" cy="1143000"/>
          </a:xfrm>
          <a:prstGeom prst="roundRect">
            <a:avLst>
              <a:gd name="adj" fmla="val 8000"/>
            </a:avLst>
          </a:prstGeom>
          <a:solidFill>
            <a:schemeClr val="bg2"/>
          </a:solidFill>
          <a:ln w="19050">
            <a:solidFill>
              <a:schemeClr val="tx1"/>
            </a:solidFill>
            <a:prstDash val="solid"/>
          </a:ln>
        </p:spPr>
      </p:sp>
      <p:sp>
        <p:nvSpPr>
          <p:cNvPr id="4" name="Consola texto 1"/>
          <p:cNvSpPr txBox="1"/>
          <p:nvPr/>
        </p:nvSpPr>
        <p:spPr>
          <a:xfrm>
            <a:off x="685800" y="1885188"/>
            <a:ext cx="2194560" cy="243840"/>
          </a:xfrm>
          <a:prstGeom prst="rect">
            <a:avLst/>
          </a:prstGeom>
          <a:noFill/>
          <a:ln/>
        </p:spPr>
        <p:txBody>
          <a:bodyPr wrap="square" lIns="0" tIns="0" rIns="0" bIns="0" rtlCol="0" anchor="t"/>
          <a:lstStyle/>
          <a:p>
            <a:pPr algn="ctr" indent="0" marL="0">
              <a:buNone/>
            </a:pPr>
            <a:r>
              <a:rPr lang="en-US" sz="1600" b="1" dirty="0">
                <a:solidFill>
                  <a:schemeClr val="tx1"/>
                </a:solidFill>
              </a:rPr>
              <a:t>Consola y SDK</a:t>
            </a:r>
            <a:endParaRPr lang="en-US" sz="1600" dirty="0"/>
          </a:p>
        </p:txBody>
      </p:sp>
      <p:sp>
        <p:nvSpPr>
          <p:cNvPr id="5" name="Consola texto 2"/>
          <p:cNvSpPr txBox="1"/>
          <p:nvPr/>
        </p:nvSpPr>
        <p:spPr>
          <a:xfrm>
            <a:off x="685800" y="2183892"/>
            <a:ext cx="2194560" cy="365760"/>
          </a:xfrm>
          <a:prstGeom prst="rect">
            <a:avLst/>
          </a:prstGeom>
          <a:noFill/>
          <a:ln/>
        </p:spPr>
        <p:txBody>
          <a:bodyPr wrap="square" lIns="0" tIns="0" rIns="0" bIns="0" rtlCol="0" anchor="t"/>
          <a:lstStyle/>
          <a:p>
            <a:pPr algn="ctr" indent="0" marL="0">
              <a:buNone/>
            </a:pPr>
            <a:r>
              <a:rPr lang="en-US" sz="1200" dirty="0">
                <a:solidFill>
                  <a:schemeClr val="tx2"/>
                </a:solidFill>
              </a:rPr>
              <a:t>Astro + React, @notifyhub/client</a:t>
            </a:r>
            <a:endParaRPr lang="en-US" sz="1200" dirty="0"/>
          </a:p>
        </p:txBody>
      </p:sp>
      <p:sp>
        <p:nvSpPr>
          <p:cNvPr id="6" name="API"/>
          <p:cNvSpPr/>
          <p:nvPr/>
        </p:nvSpPr>
        <p:spPr>
          <a:xfrm>
            <a:off x="3429000" y="1645920"/>
            <a:ext cx="2468880" cy="1143000"/>
          </a:xfrm>
          <a:prstGeom prst="roundRect">
            <a:avLst>
              <a:gd name="adj" fmla="val 8000"/>
            </a:avLst>
          </a:prstGeom>
          <a:solidFill>
            <a:schemeClr val="bg2"/>
          </a:solidFill>
          <a:ln w="19050">
            <a:solidFill>
              <a:schemeClr val="tx1"/>
            </a:solidFill>
            <a:prstDash val="solid"/>
          </a:ln>
        </p:spPr>
      </p:sp>
      <p:sp>
        <p:nvSpPr>
          <p:cNvPr id="7" name="API texto 1"/>
          <p:cNvSpPr txBox="1"/>
          <p:nvPr/>
        </p:nvSpPr>
        <p:spPr>
          <a:xfrm>
            <a:off x="3566160" y="1976628"/>
            <a:ext cx="2194560" cy="243840"/>
          </a:xfrm>
          <a:prstGeom prst="rect">
            <a:avLst/>
          </a:prstGeom>
          <a:noFill/>
          <a:ln/>
        </p:spPr>
        <p:txBody>
          <a:bodyPr wrap="square" lIns="0" tIns="0" rIns="0" bIns="0" rtlCol="0" anchor="t"/>
          <a:lstStyle/>
          <a:p>
            <a:pPr algn="ctr" indent="0" marL="0">
              <a:buNone/>
            </a:pPr>
            <a:r>
              <a:rPr lang="en-US" sz="1600" b="1" dirty="0">
                <a:solidFill>
                  <a:schemeClr val="tx1"/>
                </a:solidFill>
              </a:rPr>
              <a:t>API · Worker</a:t>
            </a:r>
            <a:endParaRPr lang="en-US" sz="1600" dirty="0"/>
          </a:p>
        </p:txBody>
      </p:sp>
      <p:sp>
        <p:nvSpPr>
          <p:cNvPr id="8" name="API texto 2"/>
          <p:cNvSpPr txBox="1"/>
          <p:nvPr/>
        </p:nvSpPr>
        <p:spPr>
          <a:xfrm>
            <a:off x="3566160" y="2275332"/>
            <a:ext cx="2194560" cy="182880"/>
          </a:xfrm>
          <a:prstGeom prst="rect">
            <a:avLst/>
          </a:prstGeom>
          <a:noFill/>
          <a:ln/>
        </p:spPr>
        <p:txBody>
          <a:bodyPr wrap="square" lIns="0" tIns="0" rIns="0" bIns="0" rtlCol="0" anchor="t"/>
          <a:lstStyle/>
          <a:p>
            <a:pPr algn="ctr" indent="0" marL="0">
              <a:buNone/>
            </a:pPr>
            <a:r>
              <a:rPr lang="en-US" sz="1200" dirty="0">
                <a:solidFill>
                  <a:schemeClr val="tx2"/>
                </a:solidFill>
              </a:rPr>
              <a:t>Hono: recibe, valida y encola</a:t>
            </a:r>
            <a:endParaRPr lang="en-US" sz="1200" dirty="0"/>
          </a:p>
        </p:txBody>
      </p:sp>
      <p:sp>
        <p:nvSpPr>
          <p:cNvPr id="9" name="Colas"/>
          <p:cNvSpPr/>
          <p:nvPr/>
        </p:nvSpPr>
        <p:spPr>
          <a:xfrm>
            <a:off x="6309360" y="1645920"/>
            <a:ext cx="2468880" cy="1143000"/>
          </a:xfrm>
          <a:prstGeom prst="roundRect">
            <a:avLst>
              <a:gd name="adj" fmla="val 8000"/>
            </a:avLst>
          </a:prstGeom>
          <a:solidFill>
            <a:schemeClr val="bg2"/>
          </a:solidFill>
          <a:ln w="19050">
            <a:solidFill>
              <a:schemeClr val="tx1"/>
            </a:solidFill>
            <a:prstDash val="solid"/>
          </a:ln>
        </p:spPr>
      </p:sp>
      <p:sp>
        <p:nvSpPr>
          <p:cNvPr id="10" name="Colas texto 1"/>
          <p:cNvSpPr txBox="1"/>
          <p:nvPr/>
        </p:nvSpPr>
        <p:spPr>
          <a:xfrm>
            <a:off x="6446520" y="1885188"/>
            <a:ext cx="2194560" cy="243840"/>
          </a:xfrm>
          <a:prstGeom prst="rect">
            <a:avLst/>
          </a:prstGeom>
          <a:noFill/>
          <a:ln/>
        </p:spPr>
        <p:txBody>
          <a:bodyPr wrap="square" lIns="0" tIns="0" rIns="0" bIns="0" rtlCol="0" anchor="t"/>
          <a:lstStyle/>
          <a:p>
            <a:pPr algn="ctr" indent="0" marL="0">
              <a:buNone/>
            </a:pPr>
            <a:r>
              <a:rPr lang="en-US" sz="1600" b="1" dirty="0">
                <a:solidFill>
                  <a:schemeClr val="tx1"/>
                </a:solidFill>
              </a:rPr>
              <a:t>Colas (Queues)</a:t>
            </a:r>
            <a:endParaRPr lang="en-US" sz="1600" dirty="0"/>
          </a:p>
        </p:txBody>
      </p:sp>
      <p:sp>
        <p:nvSpPr>
          <p:cNvPr id="11" name="Colas texto 2"/>
          <p:cNvSpPr txBox="1"/>
          <p:nvPr/>
        </p:nvSpPr>
        <p:spPr>
          <a:xfrm>
            <a:off x="6446520" y="2183892"/>
            <a:ext cx="2194560" cy="365760"/>
          </a:xfrm>
          <a:prstGeom prst="rect">
            <a:avLst/>
          </a:prstGeom>
          <a:noFill/>
          <a:ln/>
        </p:spPr>
        <p:txBody>
          <a:bodyPr wrap="square" lIns="0" tIns="0" rIns="0" bIns="0" rtlCol="0" anchor="t"/>
          <a:lstStyle/>
          <a:p>
            <a:pPr algn="ctr" indent="0" marL="0">
              <a:buNone/>
            </a:pPr>
            <a:r>
              <a:rPr lang="en-US" sz="1200" dirty="0">
                <a:solidFill>
                  <a:schemeClr val="tx2"/>
                </a:solidFill>
              </a:rPr>
              <a:t>Una cola por prioridad: alta, media y baja</a:t>
            </a:r>
            <a:endParaRPr lang="en-US" sz="1200" dirty="0"/>
          </a:p>
        </p:txBody>
      </p:sp>
      <p:sp>
        <p:nvSpPr>
          <p:cNvPr id="12" name="Despachador"/>
          <p:cNvSpPr/>
          <p:nvPr/>
        </p:nvSpPr>
        <p:spPr>
          <a:xfrm>
            <a:off x="9189720" y="1645920"/>
            <a:ext cx="2468880" cy="1143000"/>
          </a:xfrm>
          <a:prstGeom prst="roundRect">
            <a:avLst>
              <a:gd name="adj" fmla="val 8000"/>
            </a:avLst>
          </a:prstGeom>
          <a:solidFill>
            <a:schemeClr val="bg2"/>
          </a:solidFill>
          <a:ln w="19050">
            <a:solidFill>
              <a:schemeClr val="accent1"/>
            </a:solidFill>
            <a:prstDash val="solid"/>
          </a:ln>
        </p:spPr>
      </p:sp>
      <p:sp>
        <p:nvSpPr>
          <p:cNvPr id="13" name="Despachador texto 1"/>
          <p:cNvSpPr txBox="1"/>
          <p:nvPr/>
        </p:nvSpPr>
        <p:spPr>
          <a:xfrm>
            <a:off x="9326880" y="1885188"/>
            <a:ext cx="2194560" cy="243840"/>
          </a:xfrm>
          <a:prstGeom prst="rect">
            <a:avLst/>
          </a:prstGeom>
          <a:noFill/>
          <a:ln/>
        </p:spPr>
        <p:txBody>
          <a:bodyPr wrap="square" lIns="0" tIns="0" rIns="0" bIns="0" rtlCol="0" anchor="t"/>
          <a:lstStyle/>
          <a:p>
            <a:pPr algn="ctr" indent="0" marL="0">
              <a:buNone/>
            </a:pPr>
            <a:r>
              <a:rPr lang="en-US" sz="1600" b="1" dirty="0">
                <a:solidFill>
                  <a:schemeClr val="tx1"/>
                </a:solidFill>
              </a:rPr>
              <a:t>Despachador</a:t>
            </a:r>
            <a:endParaRPr lang="en-US" sz="1600" dirty="0"/>
          </a:p>
        </p:txBody>
      </p:sp>
      <p:sp>
        <p:nvSpPr>
          <p:cNvPr id="14" name="Despachador texto 2"/>
          <p:cNvSpPr txBox="1"/>
          <p:nvPr/>
        </p:nvSpPr>
        <p:spPr>
          <a:xfrm>
            <a:off x="9326880" y="2183892"/>
            <a:ext cx="2194560" cy="365760"/>
          </a:xfrm>
          <a:prstGeom prst="rect">
            <a:avLst/>
          </a:prstGeom>
          <a:noFill/>
          <a:ln/>
        </p:spPr>
        <p:txBody>
          <a:bodyPr wrap="square" lIns="0" tIns="0" rIns="0" bIns="0" rtlCol="0" anchor="t"/>
          <a:lstStyle/>
          <a:p>
            <a:pPr algn="ctr" indent="0" marL="0">
              <a:buNone/>
            </a:pPr>
            <a:r>
              <a:rPr lang="en-US" sz="1200" dirty="0">
                <a:solidFill>
                  <a:schemeClr val="tx2"/>
                </a:solidFill>
              </a:rPr>
              <a:t>Worker: reintentos, estrategia y fallback</a:t>
            </a:r>
            <a:endParaRPr lang="en-US" sz="1200" dirty="0"/>
          </a:p>
        </p:txBody>
      </p:sp>
      <p:sp>
        <p:nvSpPr>
          <p:cNvPr id="15" name="Límite"/>
          <p:cNvSpPr/>
          <p:nvPr/>
        </p:nvSpPr>
        <p:spPr>
          <a:xfrm>
            <a:off x="3429000" y="3977640"/>
            <a:ext cx="2468880" cy="1143000"/>
          </a:xfrm>
          <a:prstGeom prst="roundRect">
            <a:avLst>
              <a:gd name="adj" fmla="val 8000"/>
            </a:avLst>
          </a:prstGeom>
          <a:solidFill>
            <a:schemeClr val="bg2"/>
          </a:solidFill>
          <a:ln w="19050">
            <a:solidFill>
              <a:schemeClr val="tx1"/>
            </a:solidFill>
            <a:prstDash val="solid"/>
          </a:ln>
        </p:spPr>
      </p:sp>
      <p:sp>
        <p:nvSpPr>
          <p:cNvPr id="16" name="Límite texto 1"/>
          <p:cNvSpPr txBox="1"/>
          <p:nvPr/>
        </p:nvSpPr>
        <p:spPr>
          <a:xfrm>
            <a:off x="3566160" y="4308348"/>
            <a:ext cx="2194560" cy="243840"/>
          </a:xfrm>
          <a:prstGeom prst="rect">
            <a:avLst/>
          </a:prstGeom>
          <a:noFill/>
          <a:ln/>
        </p:spPr>
        <p:txBody>
          <a:bodyPr wrap="square" lIns="0" tIns="0" rIns="0" bIns="0" rtlCol="0" anchor="t"/>
          <a:lstStyle/>
          <a:p>
            <a:pPr algn="ctr" indent="0" marL="0">
              <a:buNone/>
            </a:pPr>
            <a:r>
              <a:rPr lang="en-US" sz="1600" b="1" dirty="0">
                <a:solidFill>
                  <a:schemeClr val="tx1"/>
                </a:solidFill>
              </a:rPr>
              <a:t>Límite de uso</a:t>
            </a:r>
            <a:endParaRPr lang="en-US" sz="1600" dirty="0"/>
          </a:p>
        </p:txBody>
      </p:sp>
      <p:sp>
        <p:nvSpPr>
          <p:cNvPr id="17" name="Límite texto 2"/>
          <p:cNvSpPr txBox="1"/>
          <p:nvPr/>
        </p:nvSpPr>
        <p:spPr>
          <a:xfrm>
            <a:off x="3566160" y="4607052"/>
            <a:ext cx="2194560" cy="182880"/>
          </a:xfrm>
          <a:prstGeom prst="rect">
            <a:avLst/>
          </a:prstGeom>
          <a:noFill/>
          <a:ln/>
        </p:spPr>
        <p:txBody>
          <a:bodyPr wrap="square" lIns="0" tIns="0" rIns="0" bIns="0" rtlCol="0" anchor="t"/>
          <a:lstStyle/>
          <a:p>
            <a:pPr algn="ctr" indent="0" marL="0">
              <a:buNone/>
            </a:pPr>
            <a:r>
              <a:rPr lang="en-US" sz="1200" dirty="0">
                <a:solidFill>
                  <a:schemeClr val="tx2"/>
                </a:solidFill>
              </a:rPr>
              <a:t>Durable Object por cliente</a:t>
            </a:r>
            <a:endParaRPr lang="en-US" sz="1200" dirty="0"/>
          </a:p>
        </p:txBody>
      </p:sp>
      <p:sp>
        <p:nvSpPr>
          <p:cNvPr id="18" name="Base"/>
          <p:cNvSpPr/>
          <p:nvPr/>
        </p:nvSpPr>
        <p:spPr>
          <a:xfrm>
            <a:off x="6309360" y="3977640"/>
            <a:ext cx="2468880" cy="1143000"/>
          </a:xfrm>
          <a:prstGeom prst="roundRect">
            <a:avLst>
              <a:gd name="adj" fmla="val 8000"/>
            </a:avLst>
          </a:prstGeom>
          <a:solidFill>
            <a:schemeClr val="bg2"/>
          </a:solidFill>
          <a:ln w="19050">
            <a:solidFill>
              <a:schemeClr val="tx1"/>
            </a:solidFill>
            <a:prstDash val="solid"/>
          </a:ln>
        </p:spPr>
      </p:sp>
      <p:sp>
        <p:nvSpPr>
          <p:cNvPr id="19" name="Base texto 1"/>
          <p:cNvSpPr txBox="1"/>
          <p:nvPr/>
        </p:nvSpPr>
        <p:spPr>
          <a:xfrm>
            <a:off x="6446520" y="4216908"/>
            <a:ext cx="2194560" cy="243840"/>
          </a:xfrm>
          <a:prstGeom prst="rect">
            <a:avLst/>
          </a:prstGeom>
          <a:noFill/>
          <a:ln/>
        </p:spPr>
        <p:txBody>
          <a:bodyPr wrap="square" lIns="0" tIns="0" rIns="0" bIns="0" rtlCol="0" anchor="t"/>
          <a:lstStyle/>
          <a:p>
            <a:pPr algn="ctr" indent="0" marL="0">
              <a:buNone/>
            </a:pPr>
            <a:r>
              <a:rPr lang="en-US" sz="1600" b="1" dirty="0">
                <a:solidFill>
                  <a:schemeClr val="tx1"/>
                </a:solidFill>
              </a:rPr>
              <a:t>Postgres en Neon</a:t>
            </a:r>
            <a:endParaRPr lang="en-US" sz="1600" dirty="0"/>
          </a:p>
        </p:txBody>
      </p:sp>
      <p:sp>
        <p:nvSpPr>
          <p:cNvPr id="20" name="Base texto 2"/>
          <p:cNvSpPr txBox="1"/>
          <p:nvPr/>
        </p:nvSpPr>
        <p:spPr>
          <a:xfrm>
            <a:off x="6446520" y="4515612"/>
            <a:ext cx="2194560" cy="365760"/>
          </a:xfrm>
          <a:prstGeom prst="rect">
            <a:avLst/>
          </a:prstGeom>
          <a:noFill/>
          <a:ln/>
        </p:spPr>
        <p:txBody>
          <a:bodyPr wrap="square" lIns="0" tIns="0" rIns="0" bIns="0" rtlCol="0" anchor="t"/>
          <a:lstStyle/>
          <a:p>
            <a:pPr algn="ctr" indent="0" marL="0">
              <a:buNone/>
            </a:pPr>
            <a:r>
              <a:rPr lang="en-US" sz="1200" dirty="0">
                <a:solidFill>
                  <a:schemeClr val="tx2"/>
                </a:solidFill>
              </a:rPr>
              <a:t>Hyperdrive: notificaciones, intentos y bitácora</a:t>
            </a:r>
            <a:endParaRPr lang="en-US" sz="1200" dirty="0"/>
          </a:p>
        </p:txBody>
      </p:sp>
      <p:sp>
        <p:nvSpPr>
          <p:cNvPr id="21" name="Proveedores"/>
          <p:cNvSpPr/>
          <p:nvPr/>
        </p:nvSpPr>
        <p:spPr>
          <a:xfrm>
            <a:off x="9189720" y="3977640"/>
            <a:ext cx="2468880" cy="1143000"/>
          </a:xfrm>
          <a:prstGeom prst="roundRect">
            <a:avLst>
              <a:gd name="adj" fmla="val 8000"/>
            </a:avLst>
          </a:prstGeom>
          <a:solidFill>
            <a:schemeClr val="bg2"/>
          </a:solidFill>
          <a:ln w="19050">
            <a:solidFill>
              <a:schemeClr val="tx1"/>
            </a:solidFill>
            <a:prstDash val="solid"/>
          </a:ln>
        </p:spPr>
      </p:sp>
      <p:sp>
        <p:nvSpPr>
          <p:cNvPr id="22" name="Proveedores texto 1"/>
          <p:cNvSpPr txBox="1"/>
          <p:nvPr/>
        </p:nvSpPr>
        <p:spPr>
          <a:xfrm>
            <a:off x="9326880" y="4216908"/>
            <a:ext cx="2194560" cy="243840"/>
          </a:xfrm>
          <a:prstGeom prst="rect">
            <a:avLst/>
          </a:prstGeom>
          <a:noFill/>
          <a:ln/>
        </p:spPr>
        <p:txBody>
          <a:bodyPr wrap="square" lIns="0" tIns="0" rIns="0" bIns="0" rtlCol="0" anchor="t"/>
          <a:lstStyle/>
          <a:p>
            <a:pPr algn="ctr" indent="0" marL="0">
              <a:buNone/>
            </a:pPr>
            <a:r>
              <a:rPr lang="en-US" sz="1600" b="1" dirty="0">
                <a:solidFill>
                  <a:schemeClr val="tx1"/>
                </a:solidFill>
              </a:rPr>
              <a:t>Proveedores</a:t>
            </a:r>
            <a:endParaRPr lang="en-US" sz="1600" dirty="0"/>
          </a:p>
        </p:txBody>
      </p:sp>
      <p:sp>
        <p:nvSpPr>
          <p:cNvPr id="23" name="Proveedores texto 2"/>
          <p:cNvSpPr txBox="1"/>
          <p:nvPr/>
        </p:nvSpPr>
        <p:spPr>
          <a:xfrm>
            <a:off x="9326880" y="4515612"/>
            <a:ext cx="2194560" cy="365760"/>
          </a:xfrm>
          <a:prstGeom prst="rect">
            <a:avLst/>
          </a:prstGeom>
          <a:noFill/>
          <a:ln/>
        </p:spPr>
        <p:txBody>
          <a:bodyPr wrap="square" lIns="0" tIns="0" rIns="0" bIns="0" rtlCol="0" anchor="t"/>
          <a:lstStyle/>
          <a:p>
            <a:pPr algn="ctr" indent="0" marL="0">
              <a:buNone/>
            </a:pPr>
            <a:r>
              <a:rPr lang="en-US" sz="1200" dirty="0">
                <a:solidFill>
                  <a:schemeClr val="tx2"/>
                </a:solidFill>
              </a:rPr>
              <a:t>SendGrid, Twilio, FCM y webhook (simulados)</a:t>
            </a:r>
            <a:endParaRPr lang="en-US" sz="1200" dirty="0"/>
          </a:p>
        </p:txBody>
      </p:sp>
      <p:sp>
        <p:nvSpPr>
          <p:cNvPr id="24" name="Flecha consola-API"/>
          <p:cNvSpPr/>
          <p:nvPr/>
        </p:nvSpPr>
        <p:spPr>
          <a:xfrm>
            <a:off x="3017520" y="2217420"/>
            <a:ext cx="411480" cy="0"/>
          </a:xfrm>
          <a:prstGeom prst="line">
            <a:avLst/>
          </a:prstGeom>
          <a:noFill/>
          <a:ln w="28575">
            <a:solidFill>
              <a:schemeClr val="tx1"/>
            </a:solidFill>
            <a:prstDash val="solid"/>
            <a:tailEnd type="triangle" w="lg" len="lg"/>
          </a:ln>
        </p:spPr>
      </p:sp>
      <p:sp>
        <p:nvSpPr>
          <p:cNvPr id="25" name="Flecha API-colas"/>
          <p:cNvSpPr/>
          <p:nvPr/>
        </p:nvSpPr>
        <p:spPr>
          <a:xfrm>
            <a:off x="5897880" y="2217420"/>
            <a:ext cx="411480" cy="0"/>
          </a:xfrm>
          <a:prstGeom prst="line">
            <a:avLst/>
          </a:prstGeom>
          <a:noFill/>
          <a:ln w="28575">
            <a:solidFill>
              <a:schemeClr val="tx1"/>
            </a:solidFill>
            <a:prstDash val="solid"/>
            <a:tailEnd type="triangle" w="lg" len="lg"/>
          </a:ln>
        </p:spPr>
      </p:sp>
      <p:sp>
        <p:nvSpPr>
          <p:cNvPr id="26" name="Flecha colas-despachador"/>
          <p:cNvSpPr/>
          <p:nvPr/>
        </p:nvSpPr>
        <p:spPr>
          <a:xfrm>
            <a:off x="8778240" y="2217420"/>
            <a:ext cx="411480" cy="0"/>
          </a:xfrm>
          <a:prstGeom prst="line">
            <a:avLst/>
          </a:prstGeom>
          <a:noFill/>
          <a:ln w="28575">
            <a:solidFill>
              <a:schemeClr val="tx1"/>
            </a:solidFill>
            <a:prstDash val="solid"/>
            <a:tailEnd type="triangle" w="lg" len="lg"/>
          </a:ln>
        </p:spPr>
      </p:sp>
      <p:sp>
        <p:nvSpPr>
          <p:cNvPr id="27" name="Flecha API-límite"/>
          <p:cNvSpPr/>
          <p:nvPr/>
        </p:nvSpPr>
        <p:spPr>
          <a:xfrm>
            <a:off x="4663440" y="2788920"/>
            <a:ext cx="0" cy="1188720"/>
          </a:xfrm>
          <a:prstGeom prst="line">
            <a:avLst/>
          </a:prstGeom>
          <a:noFill/>
          <a:ln w="28575">
            <a:solidFill>
              <a:schemeClr val="tx1"/>
            </a:solidFill>
            <a:prstDash val="solid"/>
            <a:tailEnd type="triangle" w="lg" len="lg"/>
          </a:ln>
        </p:spPr>
      </p:sp>
      <p:sp>
        <p:nvSpPr>
          <p:cNvPr id="28" name="Flecha despachador-proveedores"/>
          <p:cNvSpPr/>
          <p:nvPr/>
        </p:nvSpPr>
        <p:spPr>
          <a:xfrm>
            <a:off x="10424160" y="2788920"/>
            <a:ext cx="0" cy="1188720"/>
          </a:xfrm>
          <a:prstGeom prst="line">
            <a:avLst/>
          </a:prstGeom>
          <a:noFill/>
          <a:ln w="28575">
            <a:solidFill>
              <a:schemeClr val="accent1"/>
            </a:solidFill>
            <a:prstDash val="solid"/>
            <a:tailEnd type="triangle" w="lg" len="lg"/>
          </a:ln>
        </p:spPr>
      </p:sp>
      <p:sp>
        <p:nvSpPr>
          <p:cNvPr id="29" name="Flecha API-base"/>
          <p:cNvSpPr/>
          <p:nvPr/>
        </p:nvSpPr>
        <p:spPr>
          <a:xfrm>
            <a:off x="5404104" y="2788920"/>
            <a:ext cx="1362456" cy="1188720"/>
          </a:xfrm>
          <a:prstGeom prst="line">
            <a:avLst/>
          </a:prstGeom>
          <a:noFill/>
          <a:ln w="28575">
            <a:solidFill>
              <a:schemeClr val="tx1"/>
            </a:solidFill>
            <a:prstDash val="solid"/>
            <a:tailEnd type="triangle" w="lg" len="lg"/>
          </a:ln>
        </p:spPr>
      </p:sp>
      <p:sp>
        <p:nvSpPr>
          <p:cNvPr id="30" name="Flecha despachador-base"/>
          <p:cNvSpPr/>
          <p:nvPr/>
        </p:nvSpPr>
        <p:spPr>
          <a:xfrm flipH="1">
            <a:off x="8321040" y="2788920"/>
            <a:ext cx="1362456" cy="1188720"/>
          </a:xfrm>
          <a:prstGeom prst="line">
            <a:avLst/>
          </a:prstGeom>
          <a:noFill/>
          <a:ln w="28575">
            <a:solidFill>
              <a:schemeClr val="tx1"/>
            </a:solidFill>
            <a:prstDash val="solid"/>
            <a:tailEnd type="triangle" w="lg" len="lg"/>
          </a:ln>
        </p:spPr>
      </p:sp>
      <p:sp>
        <p:nvSpPr>
          <p:cNvPr id="31" name="Nota"/>
          <p:cNvSpPr txBox="1"/>
          <p:nvPr/>
        </p:nvSpPr>
        <p:spPr>
          <a:xfrm>
            <a:off x="548640" y="5669280"/>
            <a:ext cx="11064240" cy="640080"/>
          </a:xfrm>
          <a:prstGeom prst="rect">
            <a:avLst/>
          </a:prstGeom>
          <a:noFill/>
          <a:ln/>
        </p:spPr>
        <p:txBody>
          <a:bodyPr wrap="square" lIns="0" tIns="0" rIns="0" bIns="0" rtlCol="0" anchor="t"/>
          <a:lstStyle/>
          <a:p>
            <a:pPr indent="0" marL="0">
              <a:buNone/>
            </a:pPr>
            <a:r>
              <a:rPr lang="en-US" sz="1600" dirty="0">
                <a:solidFill>
                  <a:schemeClr val="tx1"/>
                </a:solidFill>
              </a:rPr>
              <a:t>Workers, Queues, Hyperdrive y Durable Objects son del plan gratuito; el Postgres es el plan gratuito de Neon. La arquitectura sigue capas: dominio, aplicación y adaptadores.</a:t>
            </a:r>
            <a:endParaRPr lang="en-US" sz="16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Cuatro patrones de diseño, cada uno su rol</a:t>
            </a:r>
            <a:endParaRPr lang="en-US" sz="3200" dirty="0"/>
          </a:p>
        </p:txBody>
      </p:sp>
      <p:sp>
        <p:nvSpPr>
          <p:cNvPr id="3" name="Patrón 1"/>
          <p:cNvSpPr/>
          <p:nvPr/>
        </p:nvSpPr>
        <p:spPr>
          <a:xfrm>
            <a:off x="548640" y="1554480"/>
            <a:ext cx="5440680" cy="2194560"/>
          </a:xfrm>
          <a:prstGeom prst="roundRect">
            <a:avLst>
              <a:gd name="adj" fmla="val 5000"/>
            </a:avLst>
          </a:prstGeom>
          <a:solidFill>
            <a:schemeClr val="bg2"/>
          </a:solidFill>
          <a:ln w="6350">
            <a:solidFill>
              <a:schemeClr val="bg1"/>
            </a:solidFill>
            <a:prstDash val="solid"/>
          </a:ln>
          <a:effectLst>
            <a:outerShdw sx="100000" sy="100000" kx="0" ky="0" algn="bl" rotWithShape="0" blurRad="76200" dist="25400" dir="5400000">
              <a:srgbClr val="000000">
                <a:alpha val="10000"/>
              </a:srgbClr>
            </a:outerShdw>
          </a:effectLst>
        </p:spPr>
      </p:sp>
      <p:sp>
        <p:nvSpPr>
          <p:cNvPr id="4" name="Marcador 1"/>
          <p:cNvSpPr/>
          <p:nvPr/>
        </p:nvSpPr>
        <p:spPr>
          <a:xfrm>
            <a:off x="822960" y="1828800"/>
            <a:ext cx="502920" cy="109728"/>
          </a:xfrm>
          <a:prstGeom prst="roundRect">
            <a:avLst>
              <a:gd name="adj" fmla="val 50000"/>
            </a:avLst>
          </a:prstGeom>
          <a:solidFill>
            <a:schemeClr val="accent2"/>
          </a:solidFill>
          <a:ln w="12700">
            <a:solidFill>
              <a:schemeClr val="accent2"/>
            </a:solidFill>
            <a:prstDash val="solid"/>
          </a:ln>
        </p:spPr>
      </p:sp>
      <p:sp>
        <p:nvSpPr>
          <p:cNvPr id="5" name="Nombre 1"/>
          <p:cNvSpPr txBox="1"/>
          <p:nvPr/>
        </p:nvSpPr>
        <p:spPr>
          <a:xfrm>
            <a:off x="822960" y="2011680"/>
            <a:ext cx="4846320" cy="384048"/>
          </a:xfrm>
          <a:prstGeom prst="rect">
            <a:avLst/>
          </a:prstGeom>
          <a:noFill/>
          <a:ln/>
        </p:spPr>
        <p:txBody>
          <a:bodyPr wrap="square" lIns="0" tIns="0" rIns="0" bIns="0" rtlCol="0" anchor="t"/>
          <a:lstStyle/>
          <a:p>
            <a:pPr indent="0" marL="0">
              <a:buNone/>
            </a:pPr>
            <a:r>
              <a:rPr lang="en-US" sz="2200" b="1" dirty="0">
                <a:solidFill>
                  <a:schemeClr val="tx1"/>
                </a:solidFill>
              </a:rPr>
              <a:t>Factory Method</a:t>
            </a:r>
            <a:endParaRPr lang="en-US" sz="2200" dirty="0"/>
          </a:p>
        </p:txBody>
      </p:sp>
      <p:sp>
        <p:nvSpPr>
          <p:cNvPr id="6" name="Dónde 1"/>
          <p:cNvSpPr txBox="1"/>
          <p:nvPr/>
        </p:nvSpPr>
        <p:spPr>
          <a:xfrm>
            <a:off x="822960" y="2450592"/>
            <a:ext cx="4846320" cy="292608"/>
          </a:xfrm>
          <a:prstGeom prst="rect">
            <a:avLst/>
          </a:prstGeom>
          <a:noFill/>
          <a:ln/>
        </p:spPr>
        <p:txBody>
          <a:bodyPr wrap="square" lIns="0" tIns="0" rIns="0" bIns="0" rtlCol="0" anchor="t"/>
          <a:lstStyle/>
          <a:p>
            <a:pPr indent="0" marL="0">
              <a:buNone/>
            </a:pPr>
            <a:r>
              <a:rPr lang="en-US" sz="1400" dirty="0">
                <a:solidFill>
                  <a:schemeClr val="tx2"/>
                </a:solidFill>
                <a:latin typeface="Courier New" pitchFamily="34" charset="0"/>
                <a:ea typeface="Courier New" pitchFamily="34" charset="-122"/>
                <a:cs typeface="Courier New" pitchFamily="34" charset="-120"/>
              </a:rPr>
              <a:t>SenderCreator y SenderRegistry</a:t>
            </a:r>
            <a:endParaRPr lang="en-US" sz="1400" dirty="0"/>
          </a:p>
        </p:txBody>
      </p:sp>
      <p:sp>
        <p:nvSpPr>
          <p:cNvPr id="7" name="Qué hace 1"/>
          <p:cNvSpPr txBox="1"/>
          <p:nvPr/>
        </p:nvSpPr>
        <p:spPr>
          <a:xfrm>
            <a:off x="822960" y="2816352"/>
            <a:ext cx="4846320" cy="822960"/>
          </a:xfrm>
          <a:prstGeom prst="rect">
            <a:avLst/>
          </a:prstGeom>
          <a:noFill/>
          <a:ln/>
        </p:spPr>
        <p:txBody>
          <a:bodyPr wrap="square" lIns="0" tIns="0" rIns="0" bIns="0" rtlCol="0" anchor="t"/>
          <a:lstStyle/>
          <a:p>
            <a:pPr indent="0" marL="0">
              <a:buNone/>
            </a:pPr>
            <a:r>
              <a:rPr lang="en-US" sz="1400" dirty="0">
                <a:solidFill>
                  <a:schemeClr val="tx1"/>
                </a:solidFill>
              </a:rPr>
              <a:t>Cada proveedor tiene su creador. Agregar uno nuevo es registrar un creador, sin tocar el despachador.</a:t>
            </a:r>
            <a:endParaRPr lang="en-US" sz="1400" dirty="0"/>
          </a:p>
        </p:txBody>
      </p:sp>
      <p:sp>
        <p:nvSpPr>
          <p:cNvPr id="8" name="Patrón 2"/>
          <p:cNvSpPr/>
          <p:nvPr/>
        </p:nvSpPr>
        <p:spPr>
          <a:xfrm>
            <a:off x="6172200" y="1554480"/>
            <a:ext cx="5440680" cy="2194560"/>
          </a:xfrm>
          <a:prstGeom prst="roundRect">
            <a:avLst>
              <a:gd name="adj" fmla="val 5000"/>
            </a:avLst>
          </a:prstGeom>
          <a:solidFill>
            <a:schemeClr val="bg2"/>
          </a:solidFill>
          <a:ln w="6350">
            <a:solidFill>
              <a:schemeClr val="bg1"/>
            </a:solidFill>
            <a:prstDash val="solid"/>
          </a:ln>
          <a:effectLst>
            <a:outerShdw sx="100000" sy="100000" kx="0" ky="0" algn="bl" rotWithShape="0" blurRad="76200" dist="25400" dir="5400000">
              <a:srgbClr val="000000">
                <a:alpha val="10000"/>
              </a:srgbClr>
            </a:outerShdw>
          </a:effectLst>
        </p:spPr>
      </p:sp>
      <p:sp>
        <p:nvSpPr>
          <p:cNvPr id="9" name="Marcador 2"/>
          <p:cNvSpPr/>
          <p:nvPr/>
        </p:nvSpPr>
        <p:spPr>
          <a:xfrm>
            <a:off x="6446520" y="1828800"/>
            <a:ext cx="502920" cy="109728"/>
          </a:xfrm>
          <a:prstGeom prst="roundRect">
            <a:avLst>
              <a:gd name="adj" fmla="val 50000"/>
            </a:avLst>
          </a:prstGeom>
          <a:solidFill>
            <a:schemeClr val="accent3"/>
          </a:solidFill>
          <a:ln w="12700">
            <a:solidFill>
              <a:schemeClr val="accent3"/>
            </a:solidFill>
            <a:prstDash val="solid"/>
          </a:ln>
        </p:spPr>
      </p:sp>
      <p:sp>
        <p:nvSpPr>
          <p:cNvPr id="10" name="Nombre 2"/>
          <p:cNvSpPr txBox="1"/>
          <p:nvPr/>
        </p:nvSpPr>
        <p:spPr>
          <a:xfrm>
            <a:off x="6446520" y="2011680"/>
            <a:ext cx="4846320" cy="384048"/>
          </a:xfrm>
          <a:prstGeom prst="rect">
            <a:avLst/>
          </a:prstGeom>
          <a:noFill/>
          <a:ln/>
        </p:spPr>
        <p:txBody>
          <a:bodyPr wrap="square" lIns="0" tIns="0" rIns="0" bIns="0" rtlCol="0" anchor="t"/>
          <a:lstStyle/>
          <a:p>
            <a:pPr indent="0" marL="0">
              <a:buNone/>
            </a:pPr>
            <a:r>
              <a:rPr lang="en-US" sz="2200" b="1" dirty="0">
                <a:solidFill>
                  <a:schemeClr val="tx1"/>
                </a:solidFill>
              </a:rPr>
              <a:t>Template Method</a:t>
            </a:r>
            <a:endParaRPr lang="en-US" sz="2200" dirty="0"/>
          </a:p>
        </p:txBody>
      </p:sp>
      <p:sp>
        <p:nvSpPr>
          <p:cNvPr id="11" name="Dónde 2"/>
          <p:cNvSpPr txBox="1"/>
          <p:nvPr/>
        </p:nvSpPr>
        <p:spPr>
          <a:xfrm>
            <a:off x="6446520" y="2450592"/>
            <a:ext cx="4846320" cy="292608"/>
          </a:xfrm>
          <a:prstGeom prst="rect">
            <a:avLst/>
          </a:prstGeom>
          <a:noFill/>
          <a:ln/>
        </p:spPr>
        <p:txBody>
          <a:bodyPr wrap="square" lIns="0" tIns="0" rIns="0" bIns="0" rtlCol="0" anchor="t"/>
          <a:lstStyle/>
          <a:p>
            <a:pPr indent="0" marL="0">
              <a:buNone/>
            </a:pPr>
            <a:r>
              <a:rPr lang="en-US" sz="1400" dirty="0">
                <a:solidFill>
                  <a:schemeClr val="tx2"/>
                </a:solidFill>
                <a:latin typeface="Courier New" pitchFamily="34" charset="0"/>
                <a:ea typeface="Courier New" pitchFamily="34" charset="-122"/>
                <a:cs typeface="Courier New" pitchFamily="34" charset="-120"/>
              </a:rPr>
              <a:t>BaseSender</a:t>
            </a:r>
            <a:endParaRPr lang="en-US" sz="1400" dirty="0"/>
          </a:p>
        </p:txBody>
      </p:sp>
      <p:sp>
        <p:nvSpPr>
          <p:cNvPr id="12" name="Qué hace 2"/>
          <p:cNvSpPr txBox="1"/>
          <p:nvPr/>
        </p:nvSpPr>
        <p:spPr>
          <a:xfrm>
            <a:off x="6446520" y="2816352"/>
            <a:ext cx="4846320" cy="822960"/>
          </a:xfrm>
          <a:prstGeom prst="rect">
            <a:avLst/>
          </a:prstGeom>
          <a:noFill/>
          <a:ln/>
        </p:spPr>
        <p:txBody>
          <a:bodyPr wrap="square" lIns="0" tIns="0" rIns="0" bIns="0" rtlCol="0" anchor="t"/>
          <a:lstStyle/>
          <a:p>
            <a:pPr indent="0" marL="0">
              <a:buNone/>
            </a:pPr>
            <a:r>
              <a:rPr lang="en-US" sz="1400" dirty="0">
                <a:solidFill>
                  <a:schemeClr val="tx1"/>
                </a:solidFill>
              </a:rPr>
              <a:t>Fija los pasos de un envío: validar, enviar e interpretar la respuesta. Cada proveedor solo implementa su llamada.</a:t>
            </a:r>
            <a:endParaRPr lang="en-US" sz="1400" dirty="0"/>
          </a:p>
        </p:txBody>
      </p:sp>
      <p:sp>
        <p:nvSpPr>
          <p:cNvPr id="13" name="Patrón 3"/>
          <p:cNvSpPr/>
          <p:nvPr/>
        </p:nvSpPr>
        <p:spPr>
          <a:xfrm>
            <a:off x="548640" y="3950208"/>
            <a:ext cx="5440680" cy="2194560"/>
          </a:xfrm>
          <a:prstGeom prst="roundRect">
            <a:avLst>
              <a:gd name="adj" fmla="val 5000"/>
            </a:avLst>
          </a:prstGeom>
          <a:solidFill>
            <a:schemeClr val="bg2"/>
          </a:solidFill>
          <a:ln w="6350">
            <a:solidFill>
              <a:schemeClr val="bg1"/>
            </a:solidFill>
            <a:prstDash val="solid"/>
          </a:ln>
          <a:effectLst>
            <a:outerShdw sx="100000" sy="100000" kx="0" ky="0" algn="bl" rotWithShape="0" blurRad="76200" dist="25400" dir="5400000">
              <a:srgbClr val="000000">
                <a:alpha val="10000"/>
              </a:srgbClr>
            </a:outerShdw>
          </a:effectLst>
        </p:spPr>
      </p:sp>
      <p:sp>
        <p:nvSpPr>
          <p:cNvPr id="14" name="Marcador 3"/>
          <p:cNvSpPr/>
          <p:nvPr/>
        </p:nvSpPr>
        <p:spPr>
          <a:xfrm>
            <a:off x="822960" y="4224528"/>
            <a:ext cx="502920" cy="109728"/>
          </a:xfrm>
          <a:prstGeom prst="roundRect">
            <a:avLst>
              <a:gd name="adj" fmla="val 50000"/>
            </a:avLst>
          </a:prstGeom>
          <a:solidFill>
            <a:schemeClr val="accent4"/>
          </a:solidFill>
          <a:ln w="12700">
            <a:solidFill>
              <a:schemeClr val="accent4"/>
            </a:solidFill>
            <a:prstDash val="solid"/>
          </a:ln>
        </p:spPr>
      </p:sp>
      <p:sp>
        <p:nvSpPr>
          <p:cNvPr id="15" name="Nombre 3"/>
          <p:cNvSpPr txBox="1"/>
          <p:nvPr/>
        </p:nvSpPr>
        <p:spPr>
          <a:xfrm>
            <a:off x="822960" y="4407408"/>
            <a:ext cx="4846320" cy="384048"/>
          </a:xfrm>
          <a:prstGeom prst="rect">
            <a:avLst/>
          </a:prstGeom>
          <a:noFill/>
          <a:ln/>
        </p:spPr>
        <p:txBody>
          <a:bodyPr wrap="square" lIns="0" tIns="0" rIns="0" bIns="0" rtlCol="0" anchor="t"/>
          <a:lstStyle/>
          <a:p>
            <a:pPr indent="0" marL="0">
              <a:buNone/>
            </a:pPr>
            <a:r>
              <a:rPr lang="en-US" sz="2200" b="1" dirty="0">
                <a:solidFill>
                  <a:schemeClr val="tx1"/>
                </a:solidFill>
              </a:rPr>
              <a:t>Strategy</a:t>
            </a:r>
            <a:endParaRPr lang="en-US" sz="2200" dirty="0"/>
          </a:p>
        </p:txBody>
      </p:sp>
      <p:sp>
        <p:nvSpPr>
          <p:cNvPr id="16" name="Dónde 3"/>
          <p:cNvSpPr txBox="1"/>
          <p:nvPr/>
        </p:nvSpPr>
        <p:spPr>
          <a:xfrm>
            <a:off x="822960" y="4846320"/>
            <a:ext cx="4846320" cy="292608"/>
          </a:xfrm>
          <a:prstGeom prst="rect">
            <a:avLst/>
          </a:prstGeom>
          <a:noFill/>
          <a:ln/>
        </p:spPr>
        <p:txBody>
          <a:bodyPr wrap="square" lIns="0" tIns="0" rIns="0" bIns="0" rtlCol="0" anchor="t"/>
          <a:lstStyle/>
          <a:p>
            <a:pPr indent="0" marL="0">
              <a:buNone/>
            </a:pPr>
            <a:r>
              <a:rPr lang="en-US" sz="1400" dirty="0">
                <a:solidFill>
                  <a:schemeClr val="tx2"/>
                </a:solidFill>
                <a:latin typeface="Courier New" pitchFamily="34" charset="0"/>
                <a:ea typeface="Courier New" pitchFamily="34" charset="-122"/>
                <a:cs typeface="Courier New" pitchFamily="34" charset="-120"/>
              </a:rPr>
              <a:t>Costo, Prioridad y Disponibilidad</a:t>
            </a:r>
            <a:endParaRPr lang="en-US" sz="1400" dirty="0"/>
          </a:p>
        </p:txBody>
      </p:sp>
      <p:sp>
        <p:nvSpPr>
          <p:cNvPr id="17" name="Qué hace 3"/>
          <p:cNvSpPr txBox="1"/>
          <p:nvPr/>
        </p:nvSpPr>
        <p:spPr>
          <a:xfrm>
            <a:off x="822960" y="5212080"/>
            <a:ext cx="4846320" cy="822960"/>
          </a:xfrm>
          <a:prstGeom prst="rect">
            <a:avLst/>
          </a:prstGeom>
          <a:noFill/>
          <a:ln/>
        </p:spPr>
        <p:txBody>
          <a:bodyPr wrap="square" lIns="0" tIns="0" rIns="0" bIns="0" rtlCol="0" anchor="t"/>
          <a:lstStyle/>
          <a:p>
            <a:pPr indent="0" marL="0">
              <a:buNone/>
            </a:pPr>
            <a:r>
              <a:rPr lang="en-US" sz="1400" dirty="0">
                <a:solidFill>
                  <a:schemeClr val="tx1"/>
                </a:solidFill>
              </a:rPr>
              <a:t>Elige el orden de los proveedores según la prioridad del mensaje: alta favorece disponibilidad y baja favorece costo.</a:t>
            </a:r>
            <a:endParaRPr lang="en-US" sz="1400" dirty="0"/>
          </a:p>
        </p:txBody>
      </p:sp>
      <p:sp>
        <p:nvSpPr>
          <p:cNvPr id="18" name="Patrón 4"/>
          <p:cNvSpPr/>
          <p:nvPr/>
        </p:nvSpPr>
        <p:spPr>
          <a:xfrm>
            <a:off x="6172200" y="3950208"/>
            <a:ext cx="5440680" cy="2194560"/>
          </a:xfrm>
          <a:prstGeom prst="roundRect">
            <a:avLst>
              <a:gd name="adj" fmla="val 5000"/>
            </a:avLst>
          </a:prstGeom>
          <a:solidFill>
            <a:schemeClr val="bg2"/>
          </a:solidFill>
          <a:ln w="6350">
            <a:solidFill>
              <a:schemeClr val="bg1"/>
            </a:solidFill>
            <a:prstDash val="solid"/>
          </a:ln>
          <a:effectLst>
            <a:outerShdw sx="100000" sy="100000" kx="0" ky="0" algn="bl" rotWithShape="0" blurRad="76200" dist="25400" dir="5400000">
              <a:srgbClr val="000000">
                <a:alpha val="10000"/>
              </a:srgbClr>
            </a:outerShdw>
          </a:effectLst>
        </p:spPr>
      </p:sp>
      <p:sp>
        <p:nvSpPr>
          <p:cNvPr id="19" name="Marcador 4"/>
          <p:cNvSpPr/>
          <p:nvPr/>
        </p:nvSpPr>
        <p:spPr>
          <a:xfrm>
            <a:off x="6446520" y="4224528"/>
            <a:ext cx="502920" cy="109728"/>
          </a:xfrm>
          <a:prstGeom prst="roundRect">
            <a:avLst>
              <a:gd name="adj" fmla="val 50000"/>
            </a:avLst>
          </a:prstGeom>
          <a:solidFill>
            <a:schemeClr val="accent5"/>
          </a:solidFill>
          <a:ln w="12700">
            <a:solidFill>
              <a:schemeClr val="accent5"/>
            </a:solidFill>
            <a:prstDash val="solid"/>
          </a:ln>
        </p:spPr>
      </p:sp>
      <p:sp>
        <p:nvSpPr>
          <p:cNvPr id="20" name="Nombre 4"/>
          <p:cNvSpPr txBox="1"/>
          <p:nvPr/>
        </p:nvSpPr>
        <p:spPr>
          <a:xfrm>
            <a:off x="6446520" y="4407408"/>
            <a:ext cx="4846320" cy="384048"/>
          </a:xfrm>
          <a:prstGeom prst="rect">
            <a:avLst/>
          </a:prstGeom>
          <a:noFill/>
          <a:ln/>
        </p:spPr>
        <p:txBody>
          <a:bodyPr wrap="square" lIns="0" tIns="0" rIns="0" bIns="0" rtlCol="0" anchor="t"/>
          <a:lstStyle/>
          <a:p>
            <a:pPr indent="0" marL="0">
              <a:buNone/>
            </a:pPr>
            <a:r>
              <a:rPr lang="en-US" sz="2200" b="1" dirty="0">
                <a:solidFill>
                  <a:schemeClr val="tx1"/>
                </a:solidFill>
              </a:rPr>
              <a:t>Observer</a:t>
            </a:r>
            <a:endParaRPr lang="en-US" sz="2200" dirty="0"/>
          </a:p>
        </p:txBody>
      </p:sp>
      <p:sp>
        <p:nvSpPr>
          <p:cNvPr id="21" name="Dónde 4"/>
          <p:cNvSpPr txBox="1"/>
          <p:nvPr/>
        </p:nvSpPr>
        <p:spPr>
          <a:xfrm>
            <a:off x="6446520" y="4846320"/>
            <a:ext cx="4846320" cy="292608"/>
          </a:xfrm>
          <a:prstGeom prst="rect">
            <a:avLst/>
          </a:prstGeom>
          <a:noFill/>
          <a:ln/>
        </p:spPr>
        <p:txBody>
          <a:bodyPr wrap="square" lIns="0" tIns="0" rIns="0" bIns="0" rtlCol="0" anchor="t"/>
          <a:lstStyle/>
          <a:p>
            <a:pPr indent="0" marL="0">
              <a:buNone/>
            </a:pPr>
            <a:r>
              <a:rPr lang="en-US" sz="1400" dirty="0">
                <a:solidFill>
                  <a:schemeClr val="tx2"/>
                </a:solidFill>
                <a:latin typeface="Courier New" pitchFamily="34" charset="0"/>
                <a:ea typeface="Courier New" pitchFamily="34" charset="-122"/>
                <a:cs typeface="Courier New" pitchFamily="34" charset="-120"/>
              </a:rPr>
              <a:t>EventPublisher</a:t>
            </a:r>
            <a:endParaRPr lang="en-US" sz="1400" dirty="0"/>
          </a:p>
        </p:txBody>
      </p:sp>
      <p:sp>
        <p:nvSpPr>
          <p:cNvPr id="22" name="Qué hace 4"/>
          <p:cNvSpPr txBox="1"/>
          <p:nvPr/>
        </p:nvSpPr>
        <p:spPr>
          <a:xfrm>
            <a:off x="6446520" y="5212080"/>
            <a:ext cx="4846320" cy="822960"/>
          </a:xfrm>
          <a:prstGeom prst="rect">
            <a:avLst/>
          </a:prstGeom>
          <a:noFill/>
          <a:ln/>
        </p:spPr>
        <p:txBody>
          <a:bodyPr wrap="square" lIns="0" tIns="0" rIns="0" bIns="0" rtlCol="0" anchor="t"/>
          <a:lstStyle/>
          <a:p>
            <a:pPr indent="0" marL="0">
              <a:buNone/>
            </a:pPr>
            <a:r>
              <a:rPr lang="en-US" sz="1400" dirty="0">
                <a:solidFill>
                  <a:schemeClr val="tx1"/>
                </a:solidFill>
              </a:rPr>
              <a:t>Publica cada cambio de estado e intento. Si un suscriptor falla, el envío y los demás suscriptores no se afectan.</a:t>
            </a:r>
            <a:endParaRPr lang="en-US" sz="14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El fallback por dentro: máquina de estados</a:t>
            </a:r>
            <a:endParaRPr lang="en-US" sz="3200" dirty="0"/>
          </a:p>
        </p:txBody>
      </p:sp>
      <p:sp>
        <p:nvSpPr>
          <p:cNvPr id="3" name="Estado Recibida"/>
          <p:cNvSpPr/>
          <p:nvPr/>
        </p:nvSpPr>
        <p:spPr>
          <a:xfrm>
            <a:off x="548640" y="1600200"/>
            <a:ext cx="1554480" cy="640080"/>
          </a:xfrm>
          <a:prstGeom prst="roundRect">
            <a:avLst>
              <a:gd name="adj" fmla="val 14286"/>
            </a:avLst>
          </a:prstGeom>
          <a:solidFill>
            <a:schemeClr val="bg2"/>
          </a:solidFill>
          <a:ln w="31750">
            <a:solidFill>
              <a:schemeClr val="tx2"/>
            </a:solidFill>
            <a:prstDash val="solid"/>
          </a:ln>
        </p:spPr>
      </p:sp>
      <p:sp>
        <p:nvSpPr>
          <p:cNvPr id="4" name="Estado Recibida texto 1"/>
          <p:cNvSpPr txBox="1"/>
          <p:nvPr/>
        </p:nvSpPr>
        <p:spPr>
          <a:xfrm>
            <a:off x="685800" y="1805940"/>
            <a:ext cx="1280160" cy="228600"/>
          </a:xfrm>
          <a:prstGeom prst="rect">
            <a:avLst/>
          </a:prstGeom>
          <a:noFill/>
          <a:ln/>
        </p:spPr>
        <p:txBody>
          <a:bodyPr wrap="square" lIns="0" tIns="0" rIns="0" bIns="0" rtlCol="0" anchor="t"/>
          <a:lstStyle/>
          <a:p>
            <a:pPr algn="ctr" indent="0" marL="0">
              <a:buNone/>
            </a:pPr>
            <a:r>
              <a:rPr lang="en-US" sz="1500" b="1" dirty="0">
                <a:solidFill>
                  <a:schemeClr val="tx1"/>
                </a:solidFill>
              </a:rPr>
              <a:t>Recibida</a:t>
            </a:r>
            <a:endParaRPr lang="en-US" sz="1500" dirty="0"/>
          </a:p>
        </p:txBody>
      </p:sp>
      <p:sp>
        <p:nvSpPr>
          <p:cNvPr id="5" name="Estado En cola"/>
          <p:cNvSpPr/>
          <p:nvPr/>
        </p:nvSpPr>
        <p:spPr>
          <a:xfrm>
            <a:off x="2377440" y="1600200"/>
            <a:ext cx="1554480" cy="640080"/>
          </a:xfrm>
          <a:prstGeom prst="roundRect">
            <a:avLst>
              <a:gd name="adj" fmla="val 14286"/>
            </a:avLst>
          </a:prstGeom>
          <a:solidFill>
            <a:schemeClr val="bg2"/>
          </a:solidFill>
          <a:ln w="31750">
            <a:solidFill>
              <a:schemeClr val="tx2"/>
            </a:solidFill>
            <a:prstDash val="solid"/>
          </a:ln>
        </p:spPr>
      </p:sp>
      <p:sp>
        <p:nvSpPr>
          <p:cNvPr id="6" name="Estado En cola texto 1"/>
          <p:cNvSpPr txBox="1"/>
          <p:nvPr/>
        </p:nvSpPr>
        <p:spPr>
          <a:xfrm>
            <a:off x="2514600" y="1805940"/>
            <a:ext cx="1280160" cy="228600"/>
          </a:xfrm>
          <a:prstGeom prst="rect">
            <a:avLst/>
          </a:prstGeom>
          <a:noFill/>
          <a:ln/>
        </p:spPr>
        <p:txBody>
          <a:bodyPr wrap="square" lIns="0" tIns="0" rIns="0" bIns="0" rtlCol="0" anchor="t"/>
          <a:lstStyle/>
          <a:p>
            <a:pPr algn="ctr" indent="0" marL="0">
              <a:buNone/>
            </a:pPr>
            <a:r>
              <a:rPr lang="en-US" sz="1500" b="1" dirty="0">
                <a:solidFill>
                  <a:schemeClr val="tx1"/>
                </a:solidFill>
              </a:rPr>
              <a:t>En cola</a:t>
            </a:r>
            <a:endParaRPr lang="en-US" sz="1500" dirty="0"/>
          </a:p>
        </p:txBody>
      </p:sp>
      <p:sp>
        <p:nvSpPr>
          <p:cNvPr id="7" name="Estado Enviando"/>
          <p:cNvSpPr/>
          <p:nvPr/>
        </p:nvSpPr>
        <p:spPr>
          <a:xfrm>
            <a:off x="4206240" y="1600200"/>
            <a:ext cx="1554480" cy="640080"/>
          </a:xfrm>
          <a:prstGeom prst="roundRect">
            <a:avLst>
              <a:gd name="adj" fmla="val 14286"/>
            </a:avLst>
          </a:prstGeom>
          <a:solidFill>
            <a:schemeClr val="bg2"/>
          </a:solidFill>
          <a:ln w="31750">
            <a:solidFill>
              <a:schemeClr val="accent2"/>
            </a:solidFill>
            <a:prstDash val="solid"/>
          </a:ln>
        </p:spPr>
      </p:sp>
      <p:sp>
        <p:nvSpPr>
          <p:cNvPr id="8" name="Estado Enviando texto 1"/>
          <p:cNvSpPr txBox="1"/>
          <p:nvPr/>
        </p:nvSpPr>
        <p:spPr>
          <a:xfrm>
            <a:off x="4343400" y="1805940"/>
            <a:ext cx="1280160" cy="228600"/>
          </a:xfrm>
          <a:prstGeom prst="rect">
            <a:avLst/>
          </a:prstGeom>
          <a:noFill/>
          <a:ln/>
        </p:spPr>
        <p:txBody>
          <a:bodyPr wrap="square" lIns="0" tIns="0" rIns="0" bIns="0" rtlCol="0" anchor="t"/>
          <a:lstStyle/>
          <a:p>
            <a:pPr algn="ctr" indent="0" marL="0">
              <a:buNone/>
            </a:pPr>
            <a:r>
              <a:rPr lang="en-US" sz="1500" b="1" dirty="0">
                <a:solidFill>
                  <a:schemeClr val="tx1"/>
                </a:solidFill>
              </a:rPr>
              <a:t>Enviando</a:t>
            </a:r>
            <a:endParaRPr lang="en-US" sz="1500" dirty="0"/>
          </a:p>
        </p:txBody>
      </p:sp>
      <p:sp>
        <p:nvSpPr>
          <p:cNvPr id="9" name="Estado Enviada"/>
          <p:cNvSpPr/>
          <p:nvPr/>
        </p:nvSpPr>
        <p:spPr>
          <a:xfrm>
            <a:off x="7863840" y="1600200"/>
            <a:ext cx="1554480" cy="640080"/>
          </a:xfrm>
          <a:prstGeom prst="roundRect">
            <a:avLst>
              <a:gd name="adj" fmla="val 14286"/>
            </a:avLst>
          </a:prstGeom>
          <a:solidFill>
            <a:schemeClr val="bg2"/>
          </a:solidFill>
          <a:ln w="31750">
            <a:solidFill>
              <a:schemeClr val="accent3"/>
            </a:solidFill>
            <a:prstDash val="solid"/>
          </a:ln>
        </p:spPr>
      </p:sp>
      <p:sp>
        <p:nvSpPr>
          <p:cNvPr id="10" name="Estado Enviada texto 1"/>
          <p:cNvSpPr txBox="1"/>
          <p:nvPr/>
        </p:nvSpPr>
        <p:spPr>
          <a:xfrm>
            <a:off x="8001000" y="1805940"/>
            <a:ext cx="1280160" cy="228600"/>
          </a:xfrm>
          <a:prstGeom prst="rect">
            <a:avLst/>
          </a:prstGeom>
          <a:noFill/>
          <a:ln/>
        </p:spPr>
        <p:txBody>
          <a:bodyPr wrap="square" lIns="0" tIns="0" rIns="0" bIns="0" rtlCol="0" anchor="t"/>
          <a:lstStyle/>
          <a:p>
            <a:pPr algn="ctr" indent="0" marL="0">
              <a:buNone/>
            </a:pPr>
            <a:r>
              <a:rPr lang="en-US" sz="1500" b="1" dirty="0">
                <a:solidFill>
                  <a:schemeClr val="tx1"/>
                </a:solidFill>
              </a:rPr>
              <a:t>Enviada</a:t>
            </a:r>
            <a:endParaRPr lang="en-US" sz="1500" dirty="0"/>
          </a:p>
        </p:txBody>
      </p:sp>
      <p:sp>
        <p:nvSpPr>
          <p:cNvPr id="11" name="Estado Entregada"/>
          <p:cNvSpPr/>
          <p:nvPr/>
        </p:nvSpPr>
        <p:spPr>
          <a:xfrm>
            <a:off x="9692640" y="1600200"/>
            <a:ext cx="1554480" cy="640080"/>
          </a:xfrm>
          <a:prstGeom prst="roundRect">
            <a:avLst>
              <a:gd name="adj" fmla="val 14286"/>
            </a:avLst>
          </a:prstGeom>
          <a:solidFill>
            <a:schemeClr val="bg2"/>
          </a:solidFill>
          <a:ln w="31750">
            <a:solidFill>
              <a:schemeClr val="accent6"/>
            </a:solidFill>
            <a:prstDash val="solid"/>
          </a:ln>
        </p:spPr>
      </p:sp>
      <p:sp>
        <p:nvSpPr>
          <p:cNvPr id="12" name="Estado Entregada texto 1"/>
          <p:cNvSpPr txBox="1"/>
          <p:nvPr/>
        </p:nvSpPr>
        <p:spPr>
          <a:xfrm>
            <a:off x="9829800" y="1805940"/>
            <a:ext cx="1280160" cy="228600"/>
          </a:xfrm>
          <a:prstGeom prst="rect">
            <a:avLst/>
          </a:prstGeom>
          <a:noFill/>
          <a:ln/>
        </p:spPr>
        <p:txBody>
          <a:bodyPr wrap="square" lIns="0" tIns="0" rIns="0" bIns="0" rtlCol="0" anchor="t"/>
          <a:lstStyle/>
          <a:p>
            <a:pPr algn="ctr" indent="0" marL="0">
              <a:buNone/>
            </a:pPr>
            <a:r>
              <a:rPr lang="en-US" sz="1500" b="1" dirty="0">
                <a:solidFill>
                  <a:schemeClr val="tx1"/>
                </a:solidFill>
              </a:rPr>
              <a:t>Entregada</a:t>
            </a:r>
            <a:endParaRPr lang="en-US" sz="1500" dirty="0"/>
          </a:p>
        </p:txBody>
      </p:sp>
      <p:sp>
        <p:nvSpPr>
          <p:cNvPr id="13" name="Estado Reintentando"/>
          <p:cNvSpPr/>
          <p:nvPr/>
        </p:nvSpPr>
        <p:spPr>
          <a:xfrm>
            <a:off x="3291840" y="3017520"/>
            <a:ext cx="1554480" cy="640080"/>
          </a:xfrm>
          <a:prstGeom prst="roundRect">
            <a:avLst>
              <a:gd name="adj" fmla="val 14286"/>
            </a:avLst>
          </a:prstGeom>
          <a:solidFill>
            <a:schemeClr val="bg2"/>
          </a:solidFill>
          <a:ln w="31750">
            <a:solidFill>
              <a:schemeClr val="accent4"/>
            </a:solidFill>
            <a:prstDash val="solid"/>
          </a:ln>
        </p:spPr>
      </p:sp>
      <p:sp>
        <p:nvSpPr>
          <p:cNvPr id="14" name="Estado Reintentando texto 1"/>
          <p:cNvSpPr txBox="1"/>
          <p:nvPr/>
        </p:nvSpPr>
        <p:spPr>
          <a:xfrm>
            <a:off x="3429000" y="3223260"/>
            <a:ext cx="1280160" cy="228600"/>
          </a:xfrm>
          <a:prstGeom prst="rect">
            <a:avLst/>
          </a:prstGeom>
          <a:noFill/>
          <a:ln/>
        </p:spPr>
        <p:txBody>
          <a:bodyPr wrap="square" lIns="0" tIns="0" rIns="0" bIns="0" rtlCol="0" anchor="t"/>
          <a:lstStyle/>
          <a:p>
            <a:pPr algn="ctr" indent="0" marL="0">
              <a:buNone/>
            </a:pPr>
            <a:r>
              <a:rPr lang="en-US" sz="1500" b="1" dirty="0">
                <a:solidFill>
                  <a:schemeClr val="tx1"/>
                </a:solidFill>
              </a:rPr>
              <a:t>Reintentando</a:t>
            </a:r>
            <a:endParaRPr lang="en-US" sz="1500" dirty="0"/>
          </a:p>
        </p:txBody>
      </p:sp>
      <p:sp>
        <p:nvSpPr>
          <p:cNvPr id="15" name="Estado Fallback"/>
          <p:cNvSpPr/>
          <p:nvPr/>
        </p:nvSpPr>
        <p:spPr>
          <a:xfrm>
            <a:off x="6035040" y="3017520"/>
            <a:ext cx="1554480" cy="640080"/>
          </a:xfrm>
          <a:prstGeom prst="roundRect">
            <a:avLst>
              <a:gd name="adj" fmla="val 14286"/>
            </a:avLst>
          </a:prstGeom>
          <a:solidFill>
            <a:schemeClr val="bg2"/>
          </a:solidFill>
          <a:ln w="31750">
            <a:solidFill>
              <a:schemeClr val="accent1"/>
            </a:solidFill>
            <a:prstDash val="solid"/>
          </a:ln>
        </p:spPr>
      </p:sp>
      <p:sp>
        <p:nvSpPr>
          <p:cNvPr id="16" name="Estado Fallback texto 1"/>
          <p:cNvSpPr txBox="1"/>
          <p:nvPr/>
        </p:nvSpPr>
        <p:spPr>
          <a:xfrm>
            <a:off x="6172200" y="3223260"/>
            <a:ext cx="1280160" cy="228600"/>
          </a:xfrm>
          <a:prstGeom prst="rect">
            <a:avLst/>
          </a:prstGeom>
          <a:noFill/>
          <a:ln/>
        </p:spPr>
        <p:txBody>
          <a:bodyPr wrap="square" lIns="0" tIns="0" rIns="0" bIns="0" rtlCol="0" anchor="t"/>
          <a:lstStyle/>
          <a:p>
            <a:pPr algn="ctr" indent="0" marL="0">
              <a:buNone/>
            </a:pPr>
            <a:r>
              <a:rPr lang="en-US" sz="1500" b="1" dirty="0">
                <a:solidFill>
                  <a:schemeClr val="tx1"/>
                </a:solidFill>
              </a:rPr>
              <a:t>Fallback</a:t>
            </a:r>
            <a:endParaRPr lang="en-US" sz="1500" dirty="0"/>
          </a:p>
        </p:txBody>
      </p:sp>
      <p:sp>
        <p:nvSpPr>
          <p:cNvPr id="17" name="Estado Fallida"/>
          <p:cNvSpPr/>
          <p:nvPr/>
        </p:nvSpPr>
        <p:spPr>
          <a:xfrm>
            <a:off x="9692640" y="3017520"/>
            <a:ext cx="1554480" cy="640080"/>
          </a:xfrm>
          <a:prstGeom prst="roundRect">
            <a:avLst>
              <a:gd name="adj" fmla="val 14286"/>
            </a:avLst>
          </a:prstGeom>
          <a:solidFill>
            <a:schemeClr val="bg2"/>
          </a:solidFill>
          <a:ln w="31750">
            <a:solidFill>
              <a:srgbClr val="B3122E"/>
            </a:solidFill>
            <a:prstDash val="solid"/>
          </a:ln>
        </p:spPr>
      </p:sp>
      <p:sp>
        <p:nvSpPr>
          <p:cNvPr id="18" name="Estado Fallida texto 1"/>
          <p:cNvSpPr txBox="1"/>
          <p:nvPr/>
        </p:nvSpPr>
        <p:spPr>
          <a:xfrm>
            <a:off x="9829800" y="3223260"/>
            <a:ext cx="1280160" cy="228600"/>
          </a:xfrm>
          <a:prstGeom prst="rect">
            <a:avLst/>
          </a:prstGeom>
          <a:noFill/>
          <a:ln/>
        </p:spPr>
        <p:txBody>
          <a:bodyPr wrap="square" lIns="0" tIns="0" rIns="0" bIns="0" rtlCol="0" anchor="t"/>
          <a:lstStyle/>
          <a:p>
            <a:pPr algn="ctr" indent="0" marL="0">
              <a:buNone/>
            </a:pPr>
            <a:r>
              <a:rPr lang="en-US" sz="1500" b="1" dirty="0">
                <a:solidFill>
                  <a:schemeClr val="tx1"/>
                </a:solidFill>
              </a:rPr>
              <a:t>Fallida</a:t>
            </a:r>
            <a:endParaRPr lang="en-US" sz="1500" dirty="0"/>
          </a:p>
        </p:txBody>
      </p:sp>
      <p:sp>
        <p:nvSpPr>
          <p:cNvPr id="19" name="Recibida a En cola"/>
          <p:cNvSpPr/>
          <p:nvPr/>
        </p:nvSpPr>
        <p:spPr>
          <a:xfrm>
            <a:off x="2103120" y="1920240"/>
            <a:ext cx="274320" cy="0"/>
          </a:xfrm>
          <a:prstGeom prst="line">
            <a:avLst/>
          </a:prstGeom>
          <a:noFill/>
          <a:ln w="28575">
            <a:solidFill>
              <a:schemeClr val="tx1"/>
            </a:solidFill>
            <a:prstDash val="solid"/>
            <a:tailEnd type="triangle" w="lg" len="lg"/>
          </a:ln>
        </p:spPr>
      </p:sp>
      <p:sp>
        <p:nvSpPr>
          <p:cNvPr id="20" name="En cola a Enviando"/>
          <p:cNvSpPr/>
          <p:nvPr/>
        </p:nvSpPr>
        <p:spPr>
          <a:xfrm>
            <a:off x="3931920" y="1920240"/>
            <a:ext cx="274320" cy="0"/>
          </a:xfrm>
          <a:prstGeom prst="line">
            <a:avLst/>
          </a:prstGeom>
          <a:noFill/>
          <a:ln w="28575">
            <a:solidFill>
              <a:schemeClr val="tx1"/>
            </a:solidFill>
            <a:prstDash val="solid"/>
            <a:tailEnd type="triangle" w="lg" len="lg"/>
          </a:ln>
        </p:spPr>
      </p:sp>
      <p:sp>
        <p:nvSpPr>
          <p:cNvPr id="21" name="Enviando a Enviada"/>
          <p:cNvSpPr/>
          <p:nvPr/>
        </p:nvSpPr>
        <p:spPr>
          <a:xfrm>
            <a:off x="5760720" y="1920240"/>
            <a:ext cx="2103120" cy="0"/>
          </a:xfrm>
          <a:prstGeom prst="line">
            <a:avLst/>
          </a:prstGeom>
          <a:noFill/>
          <a:ln w="28575">
            <a:solidFill>
              <a:schemeClr val="tx1"/>
            </a:solidFill>
            <a:prstDash val="solid"/>
            <a:tailEnd type="triangle" w="lg" len="lg"/>
          </a:ln>
        </p:spPr>
      </p:sp>
      <p:sp>
        <p:nvSpPr>
          <p:cNvPr id="22" name="Enviada a Entregada"/>
          <p:cNvSpPr/>
          <p:nvPr/>
        </p:nvSpPr>
        <p:spPr>
          <a:xfrm>
            <a:off x="9418320" y="1920240"/>
            <a:ext cx="274320" cy="0"/>
          </a:xfrm>
          <a:prstGeom prst="line">
            <a:avLst/>
          </a:prstGeom>
          <a:noFill/>
          <a:ln w="28575">
            <a:solidFill>
              <a:schemeClr val="tx1"/>
            </a:solidFill>
            <a:prstDash val="solid"/>
            <a:tailEnd type="triangle" w="lg" len="lg"/>
          </a:ln>
        </p:spPr>
      </p:sp>
      <p:sp>
        <p:nvSpPr>
          <p:cNvPr id="23" name="Enviando a Reintentando"/>
          <p:cNvSpPr/>
          <p:nvPr/>
        </p:nvSpPr>
        <p:spPr>
          <a:xfrm>
            <a:off x="4389120" y="2240280"/>
            <a:ext cx="0" cy="777240"/>
          </a:xfrm>
          <a:prstGeom prst="line">
            <a:avLst/>
          </a:prstGeom>
          <a:noFill/>
          <a:ln w="28575">
            <a:solidFill>
              <a:schemeClr val="accent4"/>
            </a:solidFill>
            <a:prstDash val="solid"/>
            <a:tailEnd type="triangle" w="lg" len="lg"/>
          </a:ln>
        </p:spPr>
      </p:sp>
      <p:sp>
        <p:nvSpPr>
          <p:cNvPr id="24" name="Reintentando a Enviando"/>
          <p:cNvSpPr/>
          <p:nvPr/>
        </p:nvSpPr>
        <p:spPr>
          <a:xfrm flipV="1">
            <a:off x="4663440" y="2240280"/>
            <a:ext cx="0" cy="777240"/>
          </a:xfrm>
          <a:prstGeom prst="line">
            <a:avLst/>
          </a:prstGeom>
          <a:noFill/>
          <a:ln w="28575">
            <a:solidFill>
              <a:schemeClr val="accent4"/>
            </a:solidFill>
            <a:prstDash val="solid"/>
            <a:tailEnd type="triangle" w="lg" len="lg"/>
          </a:ln>
        </p:spPr>
      </p:sp>
      <p:sp>
        <p:nvSpPr>
          <p:cNvPr id="25" name="Reintentando a Fallback"/>
          <p:cNvSpPr/>
          <p:nvPr/>
        </p:nvSpPr>
        <p:spPr>
          <a:xfrm>
            <a:off x="4846320" y="3337560"/>
            <a:ext cx="1188720" cy="0"/>
          </a:xfrm>
          <a:prstGeom prst="line">
            <a:avLst/>
          </a:prstGeom>
          <a:noFill/>
          <a:ln w="28575">
            <a:solidFill>
              <a:schemeClr val="accent1"/>
            </a:solidFill>
            <a:prstDash val="solid"/>
            <a:tailEnd type="triangle" w="lg" len="lg"/>
          </a:ln>
        </p:spPr>
      </p:sp>
      <p:sp>
        <p:nvSpPr>
          <p:cNvPr id="26" name="Fallback a Enviando"/>
          <p:cNvSpPr/>
          <p:nvPr/>
        </p:nvSpPr>
        <p:spPr>
          <a:xfrm flipH="1" flipV="1">
            <a:off x="5623560" y="2240280"/>
            <a:ext cx="685800" cy="777240"/>
          </a:xfrm>
          <a:prstGeom prst="line">
            <a:avLst/>
          </a:prstGeom>
          <a:noFill/>
          <a:ln w="28575">
            <a:solidFill>
              <a:schemeClr val="accent1"/>
            </a:solidFill>
            <a:prstDash val="solid"/>
            <a:tailEnd type="triangle" w="lg" len="lg"/>
          </a:ln>
        </p:spPr>
      </p:sp>
      <p:sp>
        <p:nvSpPr>
          <p:cNvPr id="27" name="Fallback a Fallida"/>
          <p:cNvSpPr/>
          <p:nvPr/>
        </p:nvSpPr>
        <p:spPr>
          <a:xfrm>
            <a:off x="7589520" y="3337560"/>
            <a:ext cx="2103120" cy="0"/>
          </a:xfrm>
          <a:prstGeom prst="line">
            <a:avLst/>
          </a:prstGeom>
          <a:noFill/>
          <a:ln w="28575">
            <a:solidFill>
              <a:schemeClr val="tx1"/>
            </a:solidFill>
            <a:prstDash val="solid"/>
            <a:tailEnd type="triangle" w="lg" len="lg"/>
          </a:ln>
        </p:spPr>
      </p:sp>
      <p:sp>
        <p:nvSpPr>
          <p:cNvPr id="28" name="Nota acepta"/>
          <p:cNvSpPr txBox="1"/>
          <p:nvPr/>
        </p:nvSpPr>
        <p:spPr>
          <a:xfrm>
            <a:off x="5806440" y="1627632"/>
            <a:ext cx="2011680" cy="228600"/>
          </a:xfrm>
          <a:prstGeom prst="rect">
            <a:avLst/>
          </a:prstGeom>
          <a:noFill/>
          <a:ln/>
        </p:spPr>
        <p:txBody>
          <a:bodyPr wrap="square" lIns="0" tIns="0" rIns="0" bIns="0" rtlCol="0" anchor="t"/>
          <a:lstStyle/>
          <a:p>
            <a:pPr algn="ctr" indent="0" marL="0">
              <a:buNone/>
            </a:pPr>
            <a:r>
              <a:rPr lang="en-US" sz="1100" dirty="0">
                <a:solidFill>
                  <a:schemeClr val="tx2"/>
                </a:solidFill>
              </a:rPr>
              <a:t>el proveedor acepta</a:t>
            </a:r>
            <a:endParaRPr lang="en-US" sz="1100" dirty="0"/>
          </a:p>
        </p:txBody>
      </p:sp>
      <p:sp>
        <p:nvSpPr>
          <p:cNvPr id="29" name="Nota error"/>
          <p:cNvSpPr txBox="1"/>
          <p:nvPr/>
        </p:nvSpPr>
        <p:spPr>
          <a:xfrm>
            <a:off x="3108960" y="2514600"/>
            <a:ext cx="1188720" cy="228600"/>
          </a:xfrm>
          <a:prstGeom prst="rect">
            <a:avLst/>
          </a:prstGeom>
          <a:noFill/>
          <a:ln/>
        </p:spPr>
        <p:txBody>
          <a:bodyPr wrap="square" lIns="0" tIns="0" rIns="0" bIns="0" rtlCol="0" anchor="t"/>
          <a:lstStyle/>
          <a:p>
            <a:pPr algn="r" indent="0" marL="0">
              <a:buNone/>
            </a:pPr>
            <a:r>
              <a:rPr lang="en-US" sz="1100" dirty="0">
                <a:solidFill>
                  <a:schemeClr val="tx2"/>
                </a:solidFill>
              </a:rPr>
              <a:t>error</a:t>
            </a:r>
            <a:endParaRPr lang="en-US" sz="1100" dirty="0"/>
          </a:p>
        </p:txBody>
      </p:sp>
      <p:sp>
        <p:nvSpPr>
          <p:cNvPr id="30" name="Nota espera"/>
          <p:cNvSpPr txBox="1"/>
          <p:nvPr/>
        </p:nvSpPr>
        <p:spPr>
          <a:xfrm>
            <a:off x="4754880" y="2395728"/>
            <a:ext cx="822960" cy="457200"/>
          </a:xfrm>
          <a:prstGeom prst="rect">
            <a:avLst/>
          </a:prstGeom>
          <a:noFill/>
          <a:ln/>
        </p:spPr>
        <p:txBody>
          <a:bodyPr wrap="square" lIns="0" tIns="0" rIns="0" bIns="0" rtlCol="0" anchor="t"/>
          <a:lstStyle/>
          <a:p>
            <a:pPr algn="l" indent="0" marL="0">
              <a:buNone/>
            </a:pPr>
            <a:r>
              <a:rPr lang="en-US" sz="1100" dirty="0">
                <a:solidFill>
                  <a:schemeClr val="tx2"/>
                </a:solidFill>
              </a:rPr>
              <a:t>tras la</a:t>
            </a:r>
            <a:endParaRPr lang="en-US" sz="1100" dirty="0"/>
          </a:p>
          <a:p>
            <a:pPr algn="l" indent="0" marL="0">
              <a:buNone/>
            </a:pPr>
            <a:r>
              <a:rPr lang="en-US" sz="1100" dirty="0">
                <a:solidFill>
                  <a:schemeClr val="tx2"/>
                </a:solidFill>
              </a:rPr>
              <a:t>espera</a:t>
            </a:r>
            <a:endParaRPr lang="en-US" sz="1100" dirty="0"/>
          </a:p>
        </p:txBody>
      </p:sp>
      <p:sp>
        <p:nvSpPr>
          <p:cNvPr id="31" name="Nota agotados"/>
          <p:cNvSpPr txBox="1"/>
          <p:nvPr/>
        </p:nvSpPr>
        <p:spPr>
          <a:xfrm>
            <a:off x="4846320" y="3044952"/>
            <a:ext cx="1188720" cy="228600"/>
          </a:xfrm>
          <a:prstGeom prst="rect">
            <a:avLst/>
          </a:prstGeom>
          <a:noFill/>
          <a:ln/>
        </p:spPr>
        <p:txBody>
          <a:bodyPr wrap="square" lIns="0" tIns="0" rIns="0" bIns="0" rtlCol="0" anchor="t"/>
          <a:lstStyle/>
          <a:p>
            <a:pPr algn="ctr" indent="0" marL="0">
              <a:buNone/>
            </a:pPr>
            <a:r>
              <a:rPr lang="en-US" sz="1100" dirty="0">
                <a:solidFill>
                  <a:schemeClr val="tx2"/>
                </a:solidFill>
              </a:rPr>
              <a:t>agotados</a:t>
            </a:r>
            <a:endParaRPr lang="en-US" sz="1100" dirty="0"/>
          </a:p>
        </p:txBody>
      </p:sp>
      <p:sp>
        <p:nvSpPr>
          <p:cNvPr id="32" name="Nota siguiente"/>
          <p:cNvSpPr txBox="1"/>
          <p:nvPr/>
        </p:nvSpPr>
        <p:spPr>
          <a:xfrm>
            <a:off x="6355080" y="2514600"/>
            <a:ext cx="1463040" cy="228600"/>
          </a:xfrm>
          <a:prstGeom prst="rect">
            <a:avLst/>
          </a:prstGeom>
          <a:noFill/>
          <a:ln/>
        </p:spPr>
        <p:txBody>
          <a:bodyPr wrap="square" lIns="0" tIns="0" rIns="0" bIns="0" rtlCol="0" anchor="t"/>
          <a:lstStyle/>
          <a:p>
            <a:pPr algn="l" indent="0" marL="0">
              <a:buNone/>
            </a:pPr>
            <a:r>
              <a:rPr lang="en-US" sz="1100" dirty="0">
                <a:solidFill>
                  <a:schemeClr val="tx2"/>
                </a:solidFill>
              </a:rPr>
              <a:t>siguiente canal</a:t>
            </a:r>
            <a:endParaRPr lang="en-US" sz="1100" dirty="0"/>
          </a:p>
        </p:txBody>
      </p:sp>
      <p:sp>
        <p:nvSpPr>
          <p:cNvPr id="33" name="Nota sin alternativas"/>
          <p:cNvSpPr txBox="1"/>
          <p:nvPr/>
        </p:nvSpPr>
        <p:spPr>
          <a:xfrm>
            <a:off x="7635240" y="3044952"/>
            <a:ext cx="2011680" cy="228600"/>
          </a:xfrm>
          <a:prstGeom prst="rect">
            <a:avLst/>
          </a:prstGeom>
          <a:noFill/>
          <a:ln/>
        </p:spPr>
        <p:txBody>
          <a:bodyPr wrap="square" lIns="0" tIns="0" rIns="0" bIns="0" rtlCol="0" anchor="t"/>
          <a:lstStyle/>
          <a:p>
            <a:pPr algn="ctr" indent="0" marL="0">
              <a:buNone/>
            </a:pPr>
            <a:r>
              <a:rPr lang="en-US" sz="1100" dirty="0">
                <a:solidFill>
                  <a:schemeClr val="tx2"/>
                </a:solidFill>
              </a:rPr>
              <a:t>sin alternativas</a:t>
            </a:r>
            <a:endParaRPr lang="en-US" sz="1100" dirty="0"/>
          </a:p>
        </p:txBody>
      </p:sp>
      <p:sp>
        <p:nvSpPr>
          <p:cNvPr id="34" name="Dato 1"/>
          <p:cNvSpPr/>
          <p:nvPr/>
        </p:nvSpPr>
        <p:spPr>
          <a:xfrm>
            <a:off x="548640" y="4023360"/>
            <a:ext cx="3566160" cy="1508760"/>
          </a:xfrm>
          <a:prstGeom prst="roundRect">
            <a:avLst>
              <a:gd name="adj" fmla="val 7273"/>
            </a:avLst>
          </a:prstGeom>
          <a:solidFill>
            <a:schemeClr val="bg2"/>
          </a:solidFill>
          <a:ln w="6350">
            <a:solidFill>
              <a:schemeClr val="bg1"/>
            </a:solidFill>
            <a:prstDash val="solid"/>
          </a:ln>
          <a:effectLst>
            <a:outerShdw sx="100000" sy="100000" kx="0" ky="0" algn="bl" rotWithShape="0" blurRad="76200" dist="25400" dir="5400000">
              <a:srgbClr val="000000">
                <a:alpha val="10000"/>
              </a:srgbClr>
            </a:outerShdw>
          </a:effectLst>
        </p:spPr>
      </p:sp>
      <p:sp>
        <p:nvSpPr>
          <p:cNvPr id="35" name="Cifra 1"/>
          <p:cNvSpPr txBox="1"/>
          <p:nvPr/>
        </p:nvSpPr>
        <p:spPr>
          <a:xfrm>
            <a:off x="822960" y="4160520"/>
            <a:ext cx="3017520" cy="548640"/>
          </a:xfrm>
          <a:prstGeom prst="rect">
            <a:avLst/>
          </a:prstGeom>
          <a:noFill/>
          <a:ln/>
        </p:spPr>
        <p:txBody>
          <a:bodyPr wrap="square" lIns="0" tIns="0" rIns="0" bIns="0" rtlCol="0" anchor="t"/>
          <a:lstStyle/>
          <a:p>
            <a:pPr indent="0" marL="0">
              <a:buNone/>
            </a:pPr>
            <a:r>
              <a:rPr lang="en-US" sz="2800" b="1" dirty="0">
                <a:solidFill>
                  <a:schemeClr val="accent4"/>
                </a:solidFill>
              </a:rPr>
              <a:t>3 intentos</a:t>
            </a:r>
            <a:endParaRPr lang="en-US" sz="2800" dirty="0"/>
          </a:p>
        </p:txBody>
      </p:sp>
      <p:sp>
        <p:nvSpPr>
          <p:cNvPr id="36" name="Explicación 1"/>
          <p:cNvSpPr txBox="1"/>
          <p:nvPr/>
        </p:nvSpPr>
        <p:spPr>
          <a:xfrm>
            <a:off x="822960" y="4754880"/>
            <a:ext cx="3017520" cy="685800"/>
          </a:xfrm>
          <a:prstGeom prst="rect">
            <a:avLst/>
          </a:prstGeom>
          <a:noFill/>
          <a:ln/>
        </p:spPr>
        <p:txBody>
          <a:bodyPr wrap="square" lIns="0" tIns="0" rIns="0" bIns="0" rtlCol="0" anchor="t"/>
          <a:lstStyle/>
          <a:p>
            <a:pPr indent="0" marL="0">
              <a:buNone/>
            </a:pPr>
            <a:r>
              <a:rPr lang="en-US" sz="1400" dirty="0">
                <a:solidFill>
                  <a:schemeClr val="tx2"/>
                </a:solidFill>
              </a:rPr>
              <a:t>por proveedor, con espera exponencial (0.5 s, 1 s)</a:t>
            </a:r>
            <a:endParaRPr lang="en-US" sz="1400" dirty="0"/>
          </a:p>
        </p:txBody>
      </p:sp>
      <p:sp>
        <p:nvSpPr>
          <p:cNvPr id="37" name="Dato 2"/>
          <p:cNvSpPr/>
          <p:nvPr/>
        </p:nvSpPr>
        <p:spPr>
          <a:xfrm>
            <a:off x="4297680" y="4023360"/>
            <a:ext cx="3566160" cy="1508760"/>
          </a:xfrm>
          <a:prstGeom prst="roundRect">
            <a:avLst>
              <a:gd name="adj" fmla="val 7273"/>
            </a:avLst>
          </a:prstGeom>
          <a:solidFill>
            <a:schemeClr val="bg2"/>
          </a:solidFill>
          <a:ln w="6350">
            <a:solidFill>
              <a:schemeClr val="bg1"/>
            </a:solidFill>
            <a:prstDash val="solid"/>
          </a:ln>
          <a:effectLst>
            <a:outerShdw sx="100000" sy="100000" kx="0" ky="0" algn="bl" rotWithShape="0" blurRad="76200" dist="25400" dir="5400000">
              <a:srgbClr val="000000">
                <a:alpha val="10000"/>
              </a:srgbClr>
            </a:outerShdw>
          </a:effectLst>
        </p:spPr>
      </p:sp>
      <p:sp>
        <p:nvSpPr>
          <p:cNvPr id="38" name="Cifra 2"/>
          <p:cNvSpPr txBox="1"/>
          <p:nvPr/>
        </p:nvSpPr>
        <p:spPr>
          <a:xfrm>
            <a:off x="4572000" y="4160520"/>
            <a:ext cx="3017520" cy="548640"/>
          </a:xfrm>
          <a:prstGeom prst="rect">
            <a:avLst/>
          </a:prstGeom>
          <a:noFill/>
          <a:ln/>
        </p:spPr>
        <p:txBody>
          <a:bodyPr wrap="square" lIns="0" tIns="0" rIns="0" bIns="0" rtlCol="0" anchor="t"/>
          <a:lstStyle/>
          <a:p>
            <a:pPr indent="0" marL="0">
              <a:buNone/>
            </a:pPr>
            <a:r>
              <a:rPr lang="en-US" sz="2800" b="1" dirty="0">
                <a:solidFill>
                  <a:schemeClr val="accent3"/>
                </a:solidFill>
              </a:rPr>
              <a:t>3 canales</a:t>
            </a:r>
            <a:endParaRPr lang="en-US" sz="2800" dirty="0"/>
          </a:p>
        </p:txBody>
      </p:sp>
      <p:sp>
        <p:nvSpPr>
          <p:cNvPr id="39" name="Explicación 2"/>
          <p:cNvSpPr txBox="1"/>
          <p:nvPr/>
        </p:nvSpPr>
        <p:spPr>
          <a:xfrm>
            <a:off x="4572000" y="4754880"/>
            <a:ext cx="3017520" cy="685800"/>
          </a:xfrm>
          <a:prstGeom prst="rect">
            <a:avLst/>
          </a:prstGeom>
          <a:noFill/>
          <a:ln/>
        </p:spPr>
        <p:txBody>
          <a:bodyPr wrap="square" lIns="0" tIns="0" rIns="0" bIns="0" rtlCol="0" anchor="t"/>
          <a:lstStyle/>
          <a:p>
            <a:pPr indent="0" marL="0">
              <a:buNone/>
            </a:pPr>
            <a:r>
              <a:rPr lang="en-US" sz="1400" dirty="0">
                <a:solidFill>
                  <a:schemeClr val="tx2"/>
                </a:solidFill>
              </a:rPr>
              <a:t>Push pasa a SMS y luego a Email, según los datos de contacto</a:t>
            </a:r>
            <a:endParaRPr lang="en-US" sz="1400" dirty="0"/>
          </a:p>
        </p:txBody>
      </p:sp>
      <p:sp>
        <p:nvSpPr>
          <p:cNvPr id="40" name="Dato 3"/>
          <p:cNvSpPr/>
          <p:nvPr/>
        </p:nvSpPr>
        <p:spPr>
          <a:xfrm>
            <a:off x="8046720" y="4023360"/>
            <a:ext cx="3566160" cy="1508760"/>
          </a:xfrm>
          <a:prstGeom prst="roundRect">
            <a:avLst>
              <a:gd name="adj" fmla="val 7273"/>
            </a:avLst>
          </a:prstGeom>
          <a:solidFill>
            <a:schemeClr val="bg2"/>
          </a:solidFill>
          <a:ln w="6350">
            <a:solidFill>
              <a:schemeClr val="bg1"/>
            </a:solidFill>
            <a:prstDash val="solid"/>
          </a:ln>
          <a:effectLst>
            <a:outerShdw sx="100000" sy="100000" kx="0" ky="0" algn="bl" rotWithShape="0" blurRad="76200" dist="25400" dir="5400000">
              <a:srgbClr val="000000">
                <a:alpha val="10000"/>
              </a:srgbClr>
            </a:outerShdw>
          </a:effectLst>
        </p:spPr>
      </p:sp>
      <p:sp>
        <p:nvSpPr>
          <p:cNvPr id="41" name="Cifra 3"/>
          <p:cNvSpPr txBox="1"/>
          <p:nvPr/>
        </p:nvSpPr>
        <p:spPr>
          <a:xfrm>
            <a:off x="8321040" y="4160520"/>
            <a:ext cx="3017520" cy="548640"/>
          </a:xfrm>
          <a:prstGeom prst="rect">
            <a:avLst/>
          </a:prstGeom>
          <a:noFill/>
          <a:ln/>
        </p:spPr>
        <p:txBody>
          <a:bodyPr wrap="square" lIns="0" tIns="0" rIns="0" bIns="0" rtlCol="0" anchor="t"/>
          <a:lstStyle/>
          <a:p>
            <a:pPr indent="0" marL="0">
              <a:buNone/>
            </a:pPr>
            <a:r>
              <a:rPr lang="en-US" sz="2800" b="1" dirty="0">
                <a:solidFill>
                  <a:schemeClr val="tx1"/>
                </a:solidFill>
              </a:rPr>
              <a:t>9 intentos</a:t>
            </a:r>
            <a:endParaRPr lang="en-US" sz="2800" dirty="0"/>
          </a:p>
        </p:txBody>
      </p:sp>
      <p:sp>
        <p:nvSpPr>
          <p:cNvPr id="42" name="Explicación 3"/>
          <p:cNvSpPr txBox="1"/>
          <p:nvPr/>
        </p:nvSpPr>
        <p:spPr>
          <a:xfrm>
            <a:off x="8321040" y="4754880"/>
            <a:ext cx="3017520" cy="685800"/>
          </a:xfrm>
          <a:prstGeom prst="rect">
            <a:avLst/>
          </a:prstGeom>
          <a:noFill/>
          <a:ln/>
        </p:spPr>
        <p:txBody>
          <a:bodyPr wrap="square" lIns="0" tIns="0" rIns="0" bIns="0" rtlCol="0" anchor="t"/>
          <a:lstStyle/>
          <a:p>
            <a:pPr indent="0" marL="0">
              <a:buNone/>
            </a:pPr>
            <a:r>
              <a:rPr lang="en-US" sz="1400" dirty="0">
                <a:solidFill>
                  <a:schemeClr val="tx2"/>
                </a:solidFill>
              </a:rPr>
              <a:t>como máximo con tres canales, antes de marcarla como fallida</a:t>
            </a:r>
            <a:endParaRPr lang="en-US" sz="1400" dirty="0"/>
          </a:p>
        </p:txBody>
      </p:sp>
      <p:sp>
        <p:nvSpPr>
          <p:cNvPr id="43" name="Garantía"/>
          <p:cNvSpPr txBox="1"/>
          <p:nvPr/>
        </p:nvSpPr>
        <p:spPr>
          <a:xfrm>
            <a:off x="548640" y="5760720"/>
            <a:ext cx="11064240" cy="457200"/>
          </a:xfrm>
          <a:prstGeom prst="rect">
            <a:avLst/>
          </a:prstGeom>
          <a:noFill/>
          <a:ln/>
        </p:spPr>
        <p:txBody>
          <a:bodyPr wrap="square" lIns="0" tIns="0" rIns="0" bIns="0" rtlCol="0" anchor="t"/>
          <a:lstStyle/>
          <a:p>
            <a:pPr indent="0" marL="0">
              <a:buNone/>
            </a:pPr>
            <a:r>
              <a:rPr lang="en-US" sz="1600" dirty="0">
                <a:solidFill>
                  <a:schemeClr val="tx1"/>
                </a:solidFill>
              </a:rPr>
              <a:t>Una transición inválida es imposible: el dominio la rechaza y las pruebas lo verifican.</a:t>
            </a:r>
            <a:endParaRPr lang="en-US" sz="16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Además es una librería: SDK y componentes</a:t>
            </a:r>
            <a:endParaRPr lang="en-US" sz="3200" dirty="0"/>
          </a:p>
        </p:txBody>
      </p:sp>
      <p:sp>
        <p:nvSpPr>
          <p:cNvPr id="3" name="SDK título"/>
          <p:cNvSpPr txBox="1"/>
          <p:nvPr/>
        </p:nvSpPr>
        <p:spPr>
          <a:xfrm>
            <a:off x="548640" y="1463040"/>
            <a:ext cx="5394960" cy="365760"/>
          </a:xfrm>
          <a:prstGeom prst="rect">
            <a:avLst/>
          </a:prstGeom>
          <a:noFill/>
          <a:ln/>
        </p:spPr>
        <p:txBody>
          <a:bodyPr wrap="square" lIns="0" tIns="0" rIns="0" bIns="0" rtlCol="0" anchor="t"/>
          <a:lstStyle/>
          <a:p>
            <a:pPr indent="0" marL="0">
              <a:buNone/>
            </a:pPr>
            <a:r>
              <a:rPr lang="en-US" sz="2000" b="1" dirty="0">
                <a:solidFill>
                  <a:schemeClr val="tx1"/>
                </a:solidFill>
              </a:rPr>
              <a:t>@notifyhub/client</a:t>
            </a:r>
            <a:endParaRPr lang="en-US" sz="2000" dirty="0"/>
          </a:p>
        </p:txBody>
      </p:sp>
      <p:sp>
        <p:nvSpPr>
          <p:cNvPr id="4" name="SDK fondo"/>
          <p:cNvSpPr/>
          <p:nvPr/>
        </p:nvSpPr>
        <p:spPr>
          <a:xfrm>
            <a:off x="548640" y="1920240"/>
            <a:ext cx="5394960" cy="3063240"/>
          </a:xfrm>
          <a:prstGeom prst="roundRect">
            <a:avLst>
              <a:gd name="adj" fmla="val 2985"/>
            </a:avLst>
          </a:prstGeom>
          <a:solidFill>
            <a:schemeClr val="tx1"/>
          </a:solidFill>
          <a:ln w="12700">
            <a:solidFill>
              <a:schemeClr val="tx1"/>
            </a:solidFill>
            <a:prstDash val="solid"/>
          </a:ln>
        </p:spPr>
      </p:sp>
      <p:sp>
        <p:nvSpPr>
          <p:cNvPr id="5" name="SDK código"/>
          <p:cNvSpPr txBox="1"/>
          <p:nvPr/>
        </p:nvSpPr>
        <p:spPr>
          <a:xfrm>
            <a:off x="822960" y="2148840"/>
            <a:ext cx="4846320" cy="2651760"/>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const nh = createNotifyHubClient({</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baseUrl, apiKey,</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buNone/>
            </a:pP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const { id } = await nh</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.notifications.create(payload);</a:t>
            </a:r>
            <a:endParaRPr lang="en-US" sz="1400" dirty="0"/>
          </a:p>
          <a:p>
            <a:pPr indent="0" marL="0">
              <a:buNone/>
            </a:pP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const { attempts } = await nh</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.notifications.get(id);</a:t>
            </a:r>
            <a:endParaRPr lang="en-US" sz="1400" dirty="0"/>
          </a:p>
        </p:txBody>
      </p:sp>
      <p:sp>
        <p:nvSpPr>
          <p:cNvPr id="6" name="UI título"/>
          <p:cNvSpPr txBox="1"/>
          <p:nvPr/>
        </p:nvSpPr>
        <p:spPr>
          <a:xfrm>
            <a:off x="6263640" y="1463040"/>
            <a:ext cx="5394960" cy="365760"/>
          </a:xfrm>
          <a:prstGeom prst="rect">
            <a:avLst/>
          </a:prstGeom>
          <a:noFill/>
          <a:ln/>
        </p:spPr>
        <p:txBody>
          <a:bodyPr wrap="square" lIns="0" tIns="0" rIns="0" bIns="0" rtlCol="0" anchor="t"/>
          <a:lstStyle/>
          <a:p>
            <a:pPr indent="0" marL="0">
              <a:buNone/>
            </a:pPr>
            <a:r>
              <a:rPr lang="en-US" sz="2000" b="1" dirty="0">
                <a:solidFill>
                  <a:schemeClr val="tx1"/>
                </a:solidFill>
              </a:rPr>
              <a:t>@notifyhub/ui</a:t>
            </a:r>
            <a:endParaRPr lang="en-US" sz="2000" dirty="0"/>
          </a:p>
        </p:txBody>
      </p:sp>
      <p:sp>
        <p:nvSpPr>
          <p:cNvPr id="7" name="UI fondo"/>
          <p:cNvSpPr/>
          <p:nvPr/>
        </p:nvSpPr>
        <p:spPr>
          <a:xfrm>
            <a:off x="6263640" y="1920240"/>
            <a:ext cx="5394960" cy="3063240"/>
          </a:xfrm>
          <a:prstGeom prst="roundRect">
            <a:avLst>
              <a:gd name="adj" fmla="val 2985"/>
            </a:avLst>
          </a:prstGeom>
          <a:solidFill>
            <a:schemeClr val="tx1"/>
          </a:solidFill>
          <a:ln w="12700">
            <a:solidFill>
              <a:schemeClr val="tx1"/>
            </a:solidFill>
            <a:prstDash val="solid"/>
          </a:ln>
        </p:spPr>
      </p:sp>
      <p:sp>
        <p:nvSpPr>
          <p:cNvPr id="8" name="UI código"/>
          <p:cNvSpPr txBox="1"/>
          <p:nvPr/>
        </p:nvSpPr>
        <p:spPr>
          <a:xfrm>
            <a:off x="6537960" y="2148840"/>
            <a:ext cx="4846320" cy="2651760"/>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&lt;NotifyHubProvider client={nh}&gt;</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&lt;NotificationDetail</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item={item}</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detail={detail}</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/&gt;</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&lt;/NotifyHubProvider&gt;</a:t>
            </a:r>
            <a:endParaRPr lang="en-US" sz="1400" dirty="0"/>
          </a:p>
          <a:p>
            <a:pPr indent="0" marL="0">
              <a:buNone/>
            </a:pP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la ruta del mensaje, lista</a:t>
            </a:r>
            <a:endParaRPr lang="en-US" sz="1400" dirty="0"/>
          </a:p>
        </p:txBody>
      </p:sp>
      <p:sp>
        <p:nvSpPr>
          <p:cNvPr id="9" name="Marcador 1"/>
          <p:cNvSpPr/>
          <p:nvPr/>
        </p:nvSpPr>
        <p:spPr>
          <a:xfrm>
            <a:off x="548640" y="5349240"/>
            <a:ext cx="457200" cy="109728"/>
          </a:xfrm>
          <a:prstGeom prst="roundRect">
            <a:avLst>
              <a:gd name="adj" fmla="val 50000"/>
            </a:avLst>
          </a:prstGeom>
          <a:solidFill>
            <a:schemeClr val="accent1"/>
          </a:solidFill>
          <a:ln w="12700">
            <a:solidFill>
              <a:schemeClr val="accent1"/>
            </a:solidFill>
            <a:prstDash val="solid"/>
          </a:ln>
        </p:spPr>
      </p:sp>
      <p:sp>
        <p:nvSpPr>
          <p:cNvPr id="10" name="Etiqueta 1"/>
          <p:cNvSpPr txBox="1"/>
          <p:nvPr/>
        </p:nvSpPr>
        <p:spPr>
          <a:xfrm>
            <a:off x="548640" y="5532120"/>
            <a:ext cx="2560320" cy="365760"/>
          </a:xfrm>
          <a:prstGeom prst="rect">
            <a:avLst/>
          </a:prstGeom>
          <a:noFill/>
          <a:ln/>
        </p:spPr>
        <p:txBody>
          <a:bodyPr wrap="square" lIns="0" tIns="0" rIns="0" bIns="0" rtlCol="0" anchor="t"/>
          <a:lstStyle/>
          <a:p>
            <a:pPr indent="0" marL="0">
              <a:buNone/>
            </a:pPr>
            <a:r>
              <a:rPr lang="en-US" sz="1800" b="1" dirty="0">
                <a:solidFill>
                  <a:schemeClr val="tx1"/>
                </a:solidFill>
              </a:rPr>
              <a:t>Licencia MIT</a:t>
            </a:r>
            <a:endParaRPr lang="en-US" sz="1800" dirty="0"/>
          </a:p>
        </p:txBody>
      </p:sp>
      <p:sp>
        <p:nvSpPr>
          <p:cNvPr id="11" name="Marcador 2"/>
          <p:cNvSpPr/>
          <p:nvPr/>
        </p:nvSpPr>
        <p:spPr>
          <a:xfrm>
            <a:off x="3383280" y="5349240"/>
            <a:ext cx="457200" cy="109728"/>
          </a:xfrm>
          <a:prstGeom prst="roundRect">
            <a:avLst>
              <a:gd name="adj" fmla="val 50000"/>
            </a:avLst>
          </a:prstGeom>
          <a:solidFill>
            <a:schemeClr val="accent2"/>
          </a:solidFill>
          <a:ln w="12700">
            <a:solidFill>
              <a:schemeClr val="accent2"/>
            </a:solidFill>
            <a:prstDash val="solid"/>
          </a:ln>
        </p:spPr>
      </p:sp>
      <p:sp>
        <p:nvSpPr>
          <p:cNvPr id="12" name="Etiqueta 2"/>
          <p:cNvSpPr txBox="1"/>
          <p:nvPr/>
        </p:nvSpPr>
        <p:spPr>
          <a:xfrm>
            <a:off x="3383280" y="5532120"/>
            <a:ext cx="2560320" cy="365760"/>
          </a:xfrm>
          <a:prstGeom prst="rect">
            <a:avLst/>
          </a:prstGeom>
          <a:noFill/>
          <a:ln/>
        </p:spPr>
        <p:txBody>
          <a:bodyPr wrap="square" lIns="0" tIns="0" rIns="0" bIns="0" rtlCol="0" anchor="t"/>
          <a:lstStyle/>
          <a:p>
            <a:pPr indent="0" marL="0">
              <a:buNone/>
            </a:pPr>
            <a:r>
              <a:rPr lang="en-US" sz="1800" b="1" dirty="0">
                <a:solidFill>
                  <a:schemeClr val="tx1"/>
                </a:solidFill>
              </a:rPr>
              <a:t>ESM, CJS y tipos</a:t>
            </a:r>
            <a:endParaRPr lang="en-US" sz="1800" dirty="0"/>
          </a:p>
        </p:txBody>
      </p:sp>
      <p:sp>
        <p:nvSpPr>
          <p:cNvPr id="13" name="Marcador 3"/>
          <p:cNvSpPr/>
          <p:nvPr/>
        </p:nvSpPr>
        <p:spPr>
          <a:xfrm>
            <a:off x="6217920" y="5349240"/>
            <a:ext cx="457200" cy="109728"/>
          </a:xfrm>
          <a:prstGeom prst="roundRect">
            <a:avLst>
              <a:gd name="adj" fmla="val 50000"/>
            </a:avLst>
          </a:prstGeom>
          <a:solidFill>
            <a:schemeClr val="accent3"/>
          </a:solidFill>
          <a:ln w="12700">
            <a:solidFill>
              <a:schemeClr val="accent3"/>
            </a:solidFill>
            <a:prstDash val="solid"/>
          </a:ln>
        </p:spPr>
      </p:sp>
      <p:sp>
        <p:nvSpPr>
          <p:cNvPr id="14" name="Etiqueta 3"/>
          <p:cNvSpPr txBox="1"/>
          <p:nvPr/>
        </p:nvSpPr>
        <p:spPr>
          <a:xfrm>
            <a:off x="6217920" y="5532120"/>
            <a:ext cx="2560320" cy="365760"/>
          </a:xfrm>
          <a:prstGeom prst="rect">
            <a:avLst/>
          </a:prstGeom>
          <a:noFill/>
          <a:ln/>
        </p:spPr>
        <p:txBody>
          <a:bodyPr wrap="square" lIns="0" tIns="0" rIns="0" bIns="0" rtlCol="0" anchor="t"/>
          <a:lstStyle/>
          <a:p>
            <a:pPr indent="0" marL="0">
              <a:buNone/>
            </a:pPr>
            <a:r>
              <a:rPr lang="en-US" sz="1800" b="1" dirty="0">
                <a:solidFill>
                  <a:schemeClr val="tx1"/>
                </a:solidFill>
              </a:rPr>
              <a:t>Tailwind v4</a:t>
            </a:r>
            <a:endParaRPr lang="en-US" sz="1800" dirty="0"/>
          </a:p>
        </p:txBody>
      </p:sp>
      <p:sp>
        <p:nvSpPr>
          <p:cNvPr id="15" name="Marcador 4"/>
          <p:cNvSpPr/>
          <p:nvPr/>
        </p:nvSpPr>
        <p:spPr>
          <a:xfrm>
            <a:off x="9052560" y="5349240"/>
            <a:ext cx="457200" cy="109728"/>
          </a:xfrm>
          <a:prstGeom prst="roundRect">
            <a:avLst>
              <a:gd name="adj" fmla="val 50000"/>
            </a:avLst>
          </a:prstGeom>
          <a:solidFill>
            <a:schemeClr val="accent4"/>
          </a:solidFill>
          <a:ln w="12700">
            <a:solidFill>
              <a:schemeClr val="accent4"/>
            </a:solidFill>
            <a:prstDash val="solid"/>
          </a:ln>
        </p:spPr>
      </p:sp>
      <p:sp>
        <p:nvSpPr>
          <p:cNvPr id="16" name="Etiqueta 4"/>
          <p:cNvSpPr txBox="1"/>
          <p:nvPr/>
        </p:nvSpPr>
        <p:spPr>
          <a:xfrm>
            <a:off x="9052560" y="5532120"/>
            <a:ext cx="2560320" cy="365760"/>
          </a:xfrm>
          <a:prstGeom prst="rect">
            <a:avLst/>
          </a:prstGeom>
          <a:noFill/>
          <a:ln/>
        </p:spPr>
        <p:txBody>
          <a:bodyPr wrap="square" lIns="0" tIns="0" rIns="0" bIns="0" rtlCol="0" anchor="t"/>
          <a:lstStyle/>
          <a:p>
            <a:pPr indent="0" marL="0">
              <a:buNone/>
            </a:pPr>
            <a:r>
              <a:rPr lang="en-US" sz="1800" b="1" dirty="0">
                <a:solidFill>
                  <a:schemeClr val="tx1"/>
                </a:solidFill>
              </a:rPr>
              <a:t>45 pruebas</a:t>
            </a:r>
            <a:endParaRPr lang="en-US" sz="18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Qué es real, qué es simulado y qué falta</a:t>
            </a:r>
            <a:endParaRPr lang="en-US" sz="3200" dirty="0"/>
          </a:p>
        </p:txBody>
      </p:sp>
      <p:sp>
        <p:nvSpPr>
          <p:cNvPr id="3" name="Columna Real"/>
          <p:cNvSpPr/>
          <p:nvPr/>
        </p:nvSpPr>
        <p:spPr>
          <a:xfrm>
            <a:off x="548640" y="1508760"/>
            <a:ext cx="3566160" cy="3246120"/>
          </a:xfrm>
          <a:prstGeom prst="roundRect">
            <a:avLst>
              <a:gd name="adj" fmla="val 3380"/>
            </a:avLst>
          </a:prstGeom>
          <a:solidFill>
            <a:schemeClr val="bg2"/>
          </a:solidFill>
          <a:ln w="6350">
            <a:solidFill>
              <a:schemeClr val="bg1"/>
            </a:solidFill>
            <a:prstDash val="solid"/>
          </a:ln>
          <a:effectLst>
            <a:outerShdw sx="100000" sy="100000" kx="0" ky="0" algn="bl" rotWithShape="0" blurRad="76200" dist="25400" dir="5400000">
              <a:srgbClr val="000000">
                <a:alpha val="10000"/>
              </a:srgbClr>
            </a:outerShdw>
          </a:effectLst>
        </p:spPr>
      </p:sp>
      <p:sp>
        <p:nvSpPr>
          <p:cNvPr id="4" name="Marcador Real"/>
          <p:cNvSpPr/>
          <p:nvPr/>
        </p:nvSpPr>
        <p:spPr>
          <a:xfrm>
            <a:off x="822960" y="1737360"/>
            <a:ext cx="502920" cy="109728"/>
          </a:xfrm>
          <a:prstGeom prst="roundRect">
            <a:avLst>
              <a:gd name="adj" fmla="val 50000"/>
            </a:avLst>
          </a:prstGeom>
          <a:solidFill>
            <a:schemeClr val="accent6"/>
          </a:solidFill>
          <a:ln w="12700">
            <a:solidFill>
              <a:schemeClr val="accent6"/>
            </a:solidFill>
            <a:prstDash val="solid"/>
          </a:ln>
        </p:spPr>
      </p:sp>
      <p:sp>
        <p:nvSpPr>
          <p:cNvPr id="5" name="Título Real"/>
          <p:cNvSpPr txBox="1"/>
          <p:nvPr/>
        </p:nvSpPr>
        <p:spPr>
          <a:xfrm>
            <a:off x="822960" y="1920240"/>
            <a:ext cx="3017520" cy="411480"/>
          </a:xfrm>
          <a:prstGeom prst="rect">
            <a:avLst/>
          </a:prstGeom>
          <a:noFill/>
          <a:ln/>
        </p:spPr>
        <p:txBody>
          <a:bodyPr wrap="square" lIns="0" tIns="0" rIns="0" bIns="0" rtlCol="0" anchor="t"/>
          <a:lstStyle/>
          <a:p>
            <a:pPr indent="0" marL="0">
              <a:buNone/>
            </a:pPr>
            <a:r>
              <a:rPr lang="en-US" sz="2200" b="1" dirty="0">
                <a:solidFill>
                  <a:schemeClr val="tx1"/>
                </a:solidFill>
              </a:rPr>
              <a:t>Real</a:t>
            </a:r>
            <a:endParaRPr lang="en-US" sz="2200" dirty="0"/>
          </a:p>
        </p:txBody>
      </p:sp>
      <p:sp>
        <p:nvSpPr>
          <p:cNvPr id="6" name="Lista Real"/>
          <p:cNvSpPr txBox="1"/>
          <p:nvPr/>
        </p:nvSpPr>
        <p:spPr>
          <a:xfrm>
            <a:off x="822960" y="2468880"/>
            <a:ext cx="3017520" cy="21945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Recepción con idempotencia y límite de solicitudes</a:t>
            </a:r>
            <a:endParaRPr lang="en-US" sz="1400" dirty="0"/>
          </a:p>
          <a:p>
            <a:pPr marL="177800" indent="-177800">
              <a:spcAft>
                <a:spcPts val="600"/>
              </a:spcAft>
              <a:buSzPct val="100000"/>
              <a:buChar char="•"/>
            </a:pPr>
            <a:r>
              <a:rPr lang="en-US" sz="1400" dirty="0">
                <a:solidFill>
                  <a:schemeClr val="tx1"/>
                </a:solidFill>
              </a:rPr>
              <a:t>Colas por prioridad y máquina de estados</a:t>
            </a:r>
            <a:endParaRPr lang="en-US" sz="1400" dirty="0"/>
          </a:p>
          <a:p>
            <a:pPr marL="177800" indent="-177800">
              <a:spcAft>
                <a:spcPts val="600"/>
              </a:spcAft>
              <a:buSzPct val="100000"/>
              <a:buChar char="•"/>
            </a:pPr>
            <a:r>
              <a:rPr lang="en-US" sz="1400" dirty="0">
                <a:solidFill>
                  <a:schemeClr val="tx1"/>
                </a:solidFill>
              </a:rPr>
              <a:t>Reintentos, fallback, intentos y bitácora en Postgres</a:t>
            </a:r>
            <a:endParaRPr lang="en-US" sz="1400" dirty="0"/>
          </a:p>
          <a:p>
            <a:pPr marL="177800" indent="-177800">
              <a:spcAft>
                <a:spcPts val="600"/>
              </a:spcAft>
              <a:buSzPct val="100000"/>
              <a:buChar char="•"/>
            </a:pPr>
            <a:r>
              <a:rPr lang="en-US" sz="1400" dirty="0">
                <a:solidFill>
                  <a:schemeClr val="tx1"/>
                </a:solidFill>
              </a:rPr>
              <a:t>API, SDK y consola web</a:t>
            </a:r>
            <a:endParaRPr lang="en-US" sz="1400" dirty="0"/>
          </a:p>
        </p:txBody>
      </p:sp>
      <p:sp>
        <p:nvSpPr>
          <p:cNvPr id="7" name="Columna Simulado"/>
          <p:cNvSpPr/>
          <p:nvPr/>
        </p:nvSpPr>
        <p:spPr>
          <a:xfrm>
            <a:off x="4297680" y="1508760"/>
            <a:ext cx="3566160" cy="3246120"/>
          </a:xfrm>
          <a:prstGeom prst="roundRect">
            <a:avLst>
              <a:gd name="adj" fmla="val 3380"/>
            </a:avLst>
          </a:prstGeom>
          <a:solidFill>
            <a:schemeClr val="bg2"/>
          </a:solidFill>
          <a:ln w="6350">
            <a:solidFill>
              <a:schemeClr val="bg1"/>
            </a:solidFill>
            <a:prstDash val="solid"/>
          </a:ln>
          <a:effectLst>
            <a:outerShdw sx="100000" sy="100000" kx="0" ky="0" algn="bl" rotWithShape="0" blurRad="76200" dist="25400" dir="5400000">
              <a:srgbClr val="000000">
                <a:alpha val="10000"/>
              </a:srgbClr>
            </a:outerShdw>
          </a:effectLst>
        </p:spPr>
      </p:sp>
      <p:sp>
        <p:nvSpPr>
          <p:cNvPr id="8" name="Marcador Simulado"/>
          <p:cNvSpPr/>
          <p:nvPr/>
        </p:nvSpPr>
        <p:spPr>
          <a:xfrm>
            <a:off x="4572000" y="1737360"/>
            <a:ext cx="502920" cy="109728"/>
          </a:xfrm>
          <a:prstGeom prst="roundRect">
            <a:avLst>
              <a:gd name="adj" fmla="val 50000"/>
            </a:avLst>
          </a:prstGeom>
          <a:solidFill>
            <a:schemeClr val="accent1"/>
          </a:solidFill>
          <a:ln w="12700">
            <a:solidFill>
              <a:schemeClr val="accent1"/>
            </a:solidFill>
            <a:prstDash val="solid"/>
          </a:ln>
        </p:spPr>
      </p:sp>
      <p:sp>
        <p:nvSpPr>
          <p:cNvPr id="9" name="Título Simulado"/>
          <p:cNvSpPr txBox="1"/>
          <p:nvPr/>
        </p:nvSpPr>
        <p:spPr>
          <a:xfrm>
            <a:off x="4572000" y="1920240"/>
            <a:ext cx="3017520" cy="411480"/>
          </a:xfrm>
          <a:prstGeom prst="rect">
            <a:avLst/>
          </a:prstGeom>
          <a:noFill/>
          <a:ln/>
        </p:spPr>
        <p:txBody>
          <a:bodyPr wrap="square" lIns="0" tIns="0" rIns="0" bIns="0" rtlCol="0" anchor="t"/>
          <a:lstStyle/>
          <a:p>
            <a:pPr indent="0" marL="0">
              <a:buNone/>
            </a:pPr>
            <a:r>
              <a:rPr lang="en-US" sz="2200" b="1" dirty="0">
                <a:solidFill>
                  <a:schemeClr val="tx1"/>
                </a:solidFill>
              </a:rPr>
              <a:t>Simulado</a:t>
            </a:r>
            <a:endParaRPr lang="en-US" sz="2200" dirty="0"/>
          </a:p>
        </p:txBody>
      </p:sp>
      <p:sp>
        <p:nvSpPr>
          <p:cNvPr id="10" name="Lista Simulado"/>
          <p:cNvSpPr txBox="1"/>
          <p:nvPr/>
        </p:nvSpPr>
        <p:spPr>
          <a:xfrm>
            <a:off x="4572000" y="2468880"/>
            <a:ext cx="3017520" cy="21945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SendGrid, Twilio, FCM y webhook</a:t>
            </a:r>
            <a:endParaRPr lang="en-US" sz="1400" dirty="0"/>
          </a:p>
          <a:p>
            <a:pPr marL="177800" indent="-177800">
              <a:spcAft>
                <a:spcPts val="600"/>
              </a:spcAft>
              <a:buSzPct val="100000"/>
              <a:buChar char="•"/>
            </a:pPr>
            <a:r>
              <a:rPr lang="en-US" sz="1400" dirty="0">
                <a:solidFill>
                  <a:schemeClr val="tx1"/>
                </a:solidFill>
              </a:rPr>
              <a:t>Su comportamiento sale de la salud del proveedor: operativo, degradado o caído</a:t>
            </a:r>
            <a:endParaRPr lang="en-US" sz="1400" dirty="0"/>
          </a:p>
          <a:p>
            <a:pPr marL="177800" indent="-177800">
              <a:spcAft>
                <a:spcPts val="600"/>
              </a:spcAft>
              <a:buSzPct val="100000"/>
              <a:buChar char="•"/>
            </a:pPr>
            <a:r>
              <a:rPr lang="en-US" sz="1400" dirty="0">
                <a:solidFill>
                  <a:schemeClr val="tx1"/>
                </a:solidFill>
              </a:rPr>
              <a:t>Sirve para demostrar el fallback sin credenciales</a:t>
            </a:r>
            <a:endParaRPr lang="en-US" sz="1400" dirty="0"/>
          </a:p>
        </p:txBody>
      </p:sp>
      <p:sp>
        <p:nvSpPr>
          <p:cNvPr id="11" name="Columna Pendiente"/>
          <p:cNvSpPr/>
          <p:nvPr/>
        </p:nvSpPr>
        <p:spPr>
          <a:xfrm>
            <a:off x="8046720" y="1508760"/>
            <a:ext cx="3566160" cy="3246120"/>
          </a:xfrm>
          <a:prstGeom prst="roundRect">
            <a:avLst>
              <a:gd name="adj" fmla="val 3380"/>
            </a:avLst>
          </a:prstGeom>
          <a:solidFill>
            <a:schemeClr val="bg2"/>
          </a:solidFill>
          <a:ln w="6350">
            <a:solidFill>
              <a:schemeClr val="bg1"/>
            </a:solidFill>
            <a:prstDash val="solid"/>
          </a:ln>
          <a:effectLst>
            <a:outerShdw sx="100000" sy="100000" kx="0" ky="0" algn="bl" rotWithShape="0" blurRad="76200" dist="25400" dir="5400000">
              <a:srgbClr val="000000">
                <a:alpha val="10000"/>
              </a:srgbClr>
            </a:outerShdw>
          </a:effectLst>
        </p:spPr>
      </p:sp>
      <p:sp>
        <p:nvSpPr>
          <p:cNvPr id="12" name="Marcador Pendiente"/>
          <p:cNvSpPr/>
          <p:nvPr/>
        </p:nvSpPr>
        <p:spPr>
          <a:xfrm>
            <a:off x="8321040" y="1737360"/>
            <a:ext cx="502920" cy="109728"/>
          </a:xfrm>
          <a:prstGeom prst="roundRect">
            <a:avLst>
              <a:gd name="adj" fmla="val 50000"/>
            </a:avLst>
          </a:prstGeom>
          <a:solidFill>
            <a:schemeClr val="accent4"/>
          </a:solidFill>
          <a:ln w="12700">
            <a:solidFill>
              <a:schemeClr val="accent4"/>
            </a:solidFill>
            <a:prstDash val="solid"/>
          </a:ln>
        </p:spPr>
      </p:sp>
      <p:sp>
        <p:nvSpPr>
          <p:cNvPr id="13" name="Título Pendiente"/>
          <p:cNvSpPr txBox="1"/>
          <p:nvPr/>
        </p:nvSpPr>
        <p:spPr>
          <a:xfrm>
            <a:off x="8321040" y="1920240"/>
            <a:ext cx="3017520" cy="411480"/>
          </a:xfrm>
          <a:prstGeom prst="rect">
            <a:avLst/>
          </a:prstGeom>
          <a:noFill/>
          <a:ln/>
        </p:spPr>
        <p:txBody>
          <a:bodyPr wrap="square" lIns="0" tIns="0" rIns="0" bIns="0" rtlCol="0" anchor="t"/>
          <a:lstStyle/>
          <a:p>
            <a:pPr indent="0" marL="0">
              <a:buNone/>
            </a:pPr>
            <a:r>
              <a:rPr lang="en-US" sz="2200" b="1" dirty="0">
                <a:solidFill>
                  <a:schemeClr val="tx1"/>
                </a:solidFill>
              </a:rPr>
              <a:t>Pendiente</a:t>
            </a:r>
            <a:endParaRPr lang="en-US" sz="2200" dirty="0"/>
          </a:p>
        </p:txBody>
      </p:sp>
      <p:sp>
        <p:nvSpPr>
          <p:cNvPr id="14" name="Lista Pendiente"/>
          <p:cNvSpPr txBox="1"/>
          <p:nvPr/>
        </p:nvSpPr>
        <p:spPr>
          <a:xfrm>
            <a:off x="8321040" y="2468880"/>
            <a:ext cx="3017520" cy="21945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Adaptadores reales de los proveedores</a:t>
            </a:r>
            <a:endParaRPr lang="en-US" sz="1400" dirty="0"/>
          </a:p>
          <a:p>
            <a:pPr marL="177800" indent="-177800">
              <a:spcAft>
                <a:spcPts val="600"/>
              </a:spcAft>
              <a:buSzPct val="100000"/>
              <a:buChar char="•"/>
            </a:pPr>
            <a:r>
              <a:rPr lang="en-US" sz="1400" dirty="0">
                <a:solidFill>
                  <a:schemeClr val="tx1"/>
                </a:solidFill>
              </a:rPr>
              <a:t>Outbox y suscripciones por webhook</a:t>
            </a:r>
            <a:endParaRPr lang="en-US" sz="1400" dirty="0"/>
          </a:p>
          <a:p>
            <a:pPr marL="177800" indent="-177800">
              <a:spcAft>
                <a:spcPts val="600"/>
              </a:spcAft>
              <a:buSzPct val="100000"/>
              <a:buChar char="•"/>
            </a:pPr>
            <a:r>
              <a:rPr lang="en-US" sz="1400" dirty="0">
                <a:solidFill>
                  <a:schemeClr val="tx1"/>
                </a:solidFill>
              </a:rPr>
              <a:t>Circuito de corte y revisión de salud activa</a:t>
            </a:r>
            <a:endParaRPr lang="en-US" sz="1400" dirty="0"/>
          </a:p>
        </p:txBody>
      </p:sp>
      <p:sp>
        <p:nvSpPr>
          <p:cNvPr id="15" name="Cifra 1"/>
          <p:cNvSpPr txBox="1"/>
          <p:nvPr/>
        </p:nvSpPr>
        <p:spPr>
          <a:xfrm>
            <a:off x="548640" y="5029200"/>
            <a:ext cx="1097280" cy="731520"/>
          </a:xfrm>
          <a:prstGeom prst="rect">
            <a:avLst/>
          </a:prstGeom>
          <a:noFill/>
          <a:ln/>
        </p:spPr>
        <p:txBody>
          <a:bodyPr wrap="square" lIns="0" tIns="0" rIns="0" bIns="0" rtlCol="0" anchor="t"/>
          <a:lstStyle/>
          <a:p>
            <a:pPr indent="0" marL="0">
              <a:buNone/>
            </a:pPr>
            <a:r>
              <a:rPr lang="en-US" sz="4400" b="1" dirty="0">
                <a:solidFill>
                  <a:schemeClr val="tx1"/>
                </a:solidFill>
              </a:rPr>
              <a:t>148</a:t>
            </a:r>
            <a:endParaRPr lang="en-US" sz="4400" dirty="0"/>
          </a:p>
        </p:txBody>
      </p:sp>
      <p:sp>
        <p:nvSpPr>
          <p:cNvPr id="16" name="Etiqueta 1"/>
          <p:cNvSpPr txBox="1"/>
          <p:nvPr/>
        </p:nvSpPr>
        <p:spPr>
          <a:xfrm>
            <a:off x="1737360" y="5257800"/>
            <a:ext cx="2468880" cy="457200"/>
          </a:xfrm>
          <a:prstGeom prst="rect">
            <a:avLst/>
          </a:prstGeom>
          <a:noFill/>
          <a:ln/>
        </p:spPr>
        <p:txBody>
          <a:bodyPr wrap="square" lIns="0" tIns="0" rIns="0" bIns="0" rtlCol="0" anchor="t"/>
          <a:lstStyle/>
          <a:p>
            <a:pPr indent="0" marL="0">
              <a:buNone/>
            </a:pPr>
            <a:r>
              <a:rPr lang="en-US" sz="1600" dirty="0">
                <a:solidFill>
                  <a:schemeClr val="tx2"/>
                </a:solidFill>
              </a:rPr>
              <a:t>pruebas automáticas</a:t>
            </a:r>
            <a:endParaRPr lang="en-US" sz="1600" dirty="0"/>
          </a:p>
        </p:txBody>
      </p:sp>
      <p:sp>
        <p:nvSpPr>
          <p:cNvPr id="17" name="Cifra 2"/>
          <p:cNvSpPr txBox="1"/>
          <p:nvPr/>
        </p:nvSpPr>
        <p:spPr>
          <a:xfrm>
            <a:off x="4297680" y="5029200"/>
            <a:ext cx="1097280" cy="731520"/>
          </a:xfrm>
          <a:prstGeom prst="rect">
            <a:avLst/>
          </a:prstGeom>
          <a:noFill/>
          <a:ln/>
        </p:spPr>
        <p:txBody>
          <a:bodyPr wrap="square" lIns="0" tIns="0" rIns="0" bIns="0" rtlCol="0" anchor="t"/>
          <a:lstStyle/>
          <a:p>
            <a:pPr indent="0" marL="0">
              <a:buNone/>
            </a:pPr>
            <a:r>
              <a:rPr lang="en-US" sz="4400" b="1" dirty="0">
                <a:solidFill>
                  <a:schemeClr val="tx1"/>
                </a:solidFill>
              </a:rPr>
              <a:t>8</a:t>
            </a:r>
            <a:endParaRPr lang="en-US" sz="4400" dirty="0"/>
          </a:p>
        </p:txBody>
      </p:sp>
      <p:sp>
        <p:nvSpPr>
          <p:cNvPr id="18" name="Etiqueta 2"/>
          <p:cNvSpPr txBox="1"/>
          <p:nvPr/>
        </p:nvSpPr>
        <p:spPr>
          <a:xfrm>
            <a:off x="5486400" y="5257800"/>
            <a:ext cx="2468880" cy="457200"/>
          </a:xfrm>
          <a:prstGeom prst="rect">
            <a:avLst/>
          </a:prstGeom>
          <a:noFill/>
          <a:ln/>
        </p:spPr>
        <p:txBody>
          <a:bodyPr wrap="square" lIns="0" tIns="0" rIns="0" bIns="0" rtlCol="0" anchor="t"/>
          <a:lstStyle/>
          <a:p>
            <a:pPr indent="0" marL="0">
              <a:buNone/>
            </a:pPr>
            <a:r>
              <a:rPr lang="en-US" sz="1600" dirty="0">
                <a:solidFill>
                  <a:schemeClr val="tx2"/>
                </a:solidFill>
              </a:rPr>
              <a:t>paquetes del monorepo</a:t>
            </a:r>
            <a:endParaRPr lang="en-US" sz="1600" dirty="0"/>
          </a:p>
        </p:txBody>
      </p:sp>
      <p:sp>
        <p:nvSpPr>
          <p:cNvPr id="19" name="Cifra 3"/>
          <p:cNvSpPr txBox="1"/>
          <p:nvPr/>
        </p:nvSpPr>
        <p:spPr>
          <a:xfrm>
            <a:off x="8046720" y="5029200"/>
            <a:ext cx="1097280" cy="731520"/>
          </a:xfrm>
          <a:prstGeom prst="rect">
            <a:avLst/>
          </a:prstGeom>
          <a:noFill/>
          <a:ln/>
        </p:spPr>
        <p:txBody>
          <a:bodyPr wrap="square" lIns="0" tIns="0" rIns="0" bIns="0" rtlCol="0" anchor="t"/>
          <a:lstStyle/>
          <a:p>
            <a:pPr indent="0" marL="0">
              <a:buNone/>
            </a:pPr>
            <a:r>
              <a:rPr lang="en-US" sz="4400" b="1" dirty="0">
                <a:solidFill>
                  <a:schemeClr val="tx1"/>
                </a:solidFill>
              </a:rPr>
              <a:t>0</a:t>
            </a:r>
            <a:endParaRPr lang="en-US" sz="4400" dirty="0"/>
          </a:p>
        </p:txBody>
      </p:sp>
      <p:sp>
        <p:nvSpPr>
          <p:cNvPr id="20" name="Etiqueta 3"/>
          <p:cNvSpPr txBox="1"/>
          <p:nvPr/>
        </p:nvSpPr>
        <p:spPr>
          <a:xfrm>
            <a:off x="9235440" y="5257800"/>
            <a:ext cx="2468880" cy="457200"/>
          </a:xfrm>
          <a:prstGeom prst="rect">
            <a:avLst/>
          </a:prstGeom>
          <a:noFill/>
          <a:ln/>
        </p:spPr>
        <p:txBody>
          <a:bodyPr wrap="square" lIns="0" tIns="0" rIns="0" bIns="0" rtlCol="0" anchor="t"/>
          <a:lstStyle/>
          <a:p>
            <a:pPr indent="0" marL="0">
              <a:buNone/>
            </a:pPr>
            <a:r>
              <a:rPr lang="en-US" sz="1600" dirty="0">
                <a:solidFill>
                  <a:schemeClr val="tx2"/>
                </a:solidFill>
              </a:rPr>
              <a:t>secretos expuestos</a:t>
            </a:r>
            <a:endParaRPr lang="en-US" sz="16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200" b="1" dirty="0">
                <a:solidFill>
                  <a:schemeClr val="tx1"/>
                </a:solidFill>
              </a:rPr>
              <a:t>Lo que sigue hasta la entrega final</a:t>
            </a:r>
            <a:endParaRPr lang="en-US" sz="3200" dirty="0"/>
          </a:p>
        </p:txBody>
      </p:sp>
      <p:sp>
        <p:nvSpPr>
          <p:cNvPr id="3" name="Paso 1"/>
          <p:cNvSpPr/>
          <p:nvPr/>
        </p:nvSpPr>
        <p:spPr>
          <a:xfrm>
            <a:off x="548640" y="1554480"/>
            <a:ext cx="11064240" cy="1005840"/>
          </a:xfrm>
          <a:prstGeom prst="roundRect">
            <a:avLst>
              <a:gd name="adj" fmla="val 10909"/>
            </a:avLst>
          </a:prstGeom>
          <a:solidFill>
            <a:schemeClr val="bg2"/>
          </a:solidFill>
          <a:ln w="6350">
            <a:solidFill>
              <a:schemeClr val="bg1"/>
            </a:solidFill>
            <a:prstDash val="solid"/>
          </a:ln>
          <a:effectLst>
            <a:outerShdw sx="100000" sy="100000" kx="0" ky="0" algn="bl" rotWithShape="0" blurRad="76200" dist="25400" dir="5400000">
              <a:srgbClr val="000000">
                <a:alpha val="10000"/>
              </a:srgbClr>
            </a:outerShdw>
          </a:effectLst>
        </p:spPr>
      </p:sp>
      <p:sp>
        <p:nvSpPr>
          <p:cNvPr id="4" name="Estación 1"/>
          <p:cNvSpPr/>
          <p:nvPr/>
        </p:nvSpPr>
        <p:spPr>
          <a:xfrm>
            <a:off x="868680" y="1911096"/>
            <a:ext cx="292608" cy="292608"/>
          </a:xfrm>
          <a:prstGeom prst="ellipse">
            <a:avLst/>
          </a:prstGeom>
          <a:solidFill>
            <a:schemeClr val="accent2"/>
          </a:solidFill>
          <a:ln w="38100">
            <a:solidFill>
              <a:schemeClr val="accent2"/>
            </a:solidFill>
            <a:prstDash val="solid"/>
          </a:ln>
        </p:spPr>
      </p:sp>
      <p:sp>
        <p:nvSpPr>
          <p:cNvPr id="5" name="Riel 1"/>
          <p:cNvSpPr/>
          <p:nvPr/>
        </p:nvSpPr>
        <p:spPr>
          <a:xfrm>
            <a:off x="978408" y="2468880"/>
            <a:ext cx="73152" cy="347472"/>
          </a:xfrm>
          <a:prstGeom prst="roundRect">
            <a:avLst>
              <a:gd name="adj" fmla="val 50000"/>
            </a:avLst>
          </a:prstGeom>
          <a:solidFill>
            <a:schemeClr val="accent2"/>
          </a:solidFill>
          <a:ln w="12700">
            <a:solidFill>
              <a:schemeClr val="accent2"/>
            </a:solidFill>
            <a:prstDash val="solid"/>
          </a:ln>
        </p:spPr>
      </p:sp>
      <p:sp>
        <p:nvSpPr>
          <p:cNvPr id="6" name="Fecha 1"/>
          <p:cNvSpPr txBox="1"/>
          <p:nvPr/>
        </p:nvSpPr>
        <p:spPr>
          <a:xfrm>
            <a:off x="1554480" y="1719072"/>
            <a:ext cx="3657600" cy="329184"/>
          </a:xfrm>
          <a:prstGeom prst="rect">
            <a:avLst/>
          </a:prstGeom>
          <a:noFill/>
          <a:ln/>
        </p:spPr>
        <p:txBody>
          <a:bodyPr wrap="square" lIns="0" tIns="0" rIns="0" bIns="0" rtlCol="0" anchor="t"/>
          <a:lstStyle/>
          <a:p>
            <a:pPr indent="0" marL="0">
              <a:buNone/>
            </a:pPr>
            <a:r>
              <a:rPr lang="en-US" sz="1800" b="1" dirty="0">
                <a:solidFill>
                  <a:schemeClr val="tx1"/>
                </a:solidFill>
              </a:rPr>
              <a:t>Sprint 2 · 26 oct – 6 nov</a:t>
            </a:r>
            <a:endParaRPr lang="en-US" sz="1800" dirty="0"/>
          </a:p>
        </p:txBody>
      </p:sp>
      <p:sp>
        <p:nvSpPr>
          <p:cNvPr id="7" name="Meta 1"/>
          <p:cNvSpPr txBox="1"/>
          <p:nvPr/>
        </p:nvSpPr>
        <p:spPr>
          <a:xfrm>
            <a:off x="1554480" y="2084832"/>
            <a:ext cx="9692640" cy="365760"/>
          </a:xfrm>
          <a:prstGeom prst="rect">
            <a:avLst/>
          </a:prstGeom>
          <a:noFill/>
          <a:ln/>
        </p:spPr>
        <p:txBody>
          <a:bodyPr wrap="square" lIns="0" tIns="0" rIns="0" bIns="0" rtlCol="0" anchor="t"/>
          <a:lstStyle/>
          <a:p>
            <a:pPr indent="0" marL="0">
              <a:buNone/>
            </a:pPr>
            <a:r>
              <a:rPr lang="en-US" sz="1600" dirty="0">
                <a:solidFill>
                  <a:schemeClr val="tx2"/>
                </a:solidFill>
              </a:rPr>
              <a:t>Adaptadores reales de SendGrid, Twilio, FCM y webhook</a:t>
            </a:r>
            <a:endParaRPr lang="en-US" sz="1600" dirty="0"/>
          </a:p>
        </p:txBody>
      </p:sp>
      <p:sp>
        <p:nvSpPr>
          <p:cNvPr id="8" name="Paso 2"/>
          <p:cNvSpPr/>
          <p:nvPr/>
        </p:nvSpPr>
        <p:spPr>
          <a:xfrm>
            <a:off x="548640" y="2724912"/>
            <a:ext cx="11064240" cy="1005840"/>
          </a:xfrm>
          <a:prstGeom prst="roundRect">
            <a:avLst>
              <a:gd name="adj" fmla="val 10909"/>
            </a:avLst>
          </a:prstGeom>
          <a:solidFill>
            <a:schemeClr val="bg2"/>
          </a:solidFill>
          <a:ln w="6350">
            <a:solidFill>
              <a:schemeClr val="bg1"/>
            </a:solidFill>
            <a:prstDash val="solid"/>
          </a:ln>
          <a:effectLst>
            <a:outerShdw sx="100000" sy="100000" kx="0" ky="0" algn="bl" rotWithShape="0" blurRad="76200" dist="25400" dir="5400000">
              <a:srgbClr val="000000">
                <a:alpha val="10000"/>
              </a:srgbClr>
            </a:outerShdw>
          </a:effectLst>
        </p:spPr>
      </p:sp>
      <p:sp>
        <p:nvSpPr>
          <p:cNvPr id="9" name="Estación 2"/>
          <p:cNvSpPr/>
          <p:nvPr/>
        </p:nvSpPr>
        <p:spPr>
          <a:xfrm>
            <a:off x="868680" y="3081528"/>
            <a:ext cx="292608" cy="292608"/>
          </a:xfrm>
          <a:prstGeom prst="ellipse">
            <a:avLst/>
          </a:prstGeom>
          <a:solidFill>
            <a:schemeClr val="accent3"/>
          </a:solidFill>
          <a:ln w="38100">
            <a:solidFill>
              <a:schemeClr val="accent3"/>
            </a:solidFill>
            <a:prstDash val="solid"/>
          </a:ln>
        </p:spPr>
      </p:sp>
      <p:sp>
        <p:nvSpPr>
          <p:cNvPr id="10" name="Riel 2"/>
          <p:cNvSpPr/>
          <p:nvPr/>
        </p:nvSpPr>
        <p:spPr>
          <a:xfrm>
            <a:off x="978408" y="3639312"/>
            <a:ext cx="73152" cy="347472"/>
          </a:xfrm>
          <a:prstGeom prst="roundRect">
            <a:avLst>
              <a:gd name="adj" fmla="val 50000"/>
            </a:avLst>
          </a:prstGeom>
          <a:solidFill>
            <a:schemeClr val="accent3"/>
          </a:solidFill>
          <a:ln w="12700">
            <a:solidFill>
              <a:schemeClr val="accent3"/>
            </a:solidFill>
            <a:prstDash val="solid"/>
          </a:ln>
        </p:spPr>
      </p:sp>
      <p:sp>
        <p:nvSpPr>
          <p:cNvPr id="11" name="Fecha 2"/>
          <p:cNvSpPr txBox="1"/>
          <p:nvPr/>
        </p:nvSpPr>
        <p:spPr>
          <a:xfrm>
            <a:off x="1554480" y="2889504"/>
            <a:ext cx="3657600" cy="329184"/>
          </a:xfrm>
          <a:prstGeom prst="rect">
            <a:avLst/>
          </a:prstGeom>
          <a:noFill/>
          <a:ln/>
        </p:spPr>
        <p:txBody>
          <a:bodyPr wrap="square" lIns="0" tIns="0" rIns="0" bIns="0" rtlCol="0" anchor="t"/>
          <a:lstStyle/>
          <a:p>
            <a:pPr indent="0" marL="0">
              <a:buNone/>
            </a:pPr>
            <a:r>
              <a:rPr lang="en-US" sz="1800" b="1" dirty="0">
                <a:solidFill>
                  <a:schemeClr val="tx1"/>
                </a:solidFill>
              </a:rPr>
              <a:t>Sprint 3 · 9 – 20 nov</a:t>
            </a:r>
            <a:endParaRPr lang="en-US" sz="1800" dirty="0"/>
          </a:p>
        </p:txBody>
      </p:sp>
      <p:sp>
        <p:nvSpPr>
          <p:cNvPr id="12" name="Meta 2"/>
          <p:cNvSpPr txBox="1"/>
          <p:nvPr/>
        </p:nvSpPr>
        <p:spPr>
          <a:xfrm>
            <a:off x="1554480" y="3255264"/>
            <a:ext cx="9692640" cy="365760"/>
          </a:xfrm>
          <a:prstGeom prst="rect">
            <a:avLst/>
          </a:prstGeom>
          <a:noFill/>
          <a:ln/>
        </p:spPr>
        <p:txBody>
          <a:bodyPr wrap="square" lIns="0" tIns="0" rIns="0" bIns="0" rtlCol="0" anchor="t"/>
          <a:lstStyle/>
          <a:p>
            <a:pPr indent="0" marL="0">
              <a:buNone/>
            </a:pPr>
            <a:r>
              <a:rPr lang="en-US" sz="1600" dirty="0">
                <a:solidFill>
                  <a:schemeClr val="tx2"/>
                </a:solidFill>
              </a:rPr>
              <a:t>Circuito de corte por proveedor y revisión de salud activa</a:t>
            </a:r>
            <a:endParaRPr lang="en-US" sz="1600" dirty="0"/>
          </a:p>
        </p:txBody>
      </p:sp>
      <p:sp>
        <p:nvSpPr>
          <p:cNvPr id="13" name="Paso 3"/>
          <p:cNvSpPr/>
          <p:nvPr/>
        </p:nvSpPr>
        <p:spPr>
          <a:xfrm>
            <a:off x="548640" y="3895344"/>
            <a:ext cx="11064240" cy="1005840"/>
          </a:xfrm>
          <a:prstGeom prst="roundRect">
            <a:avLst>
              <a:gd name="adj" fmla="val 10909"/>
            </a:avLst>
          </a:prstGeom>
          <a:solidFill>
            <a:schemeClr val="bg2"/>
          </a:solidFill>
          <a:ln w="6350">
            <a:solidFill>
              <a:schemeClr val="bg1"/>
            </a:solidFill>
            <a:prstDash val="solid"/>
          </a:ln>
          <a:effectLst>
            <a:outerShdw sx="100000" sy="100000" kx="0" ky="0" algn="bl" rotWithShape="0" blurRad="76200" dist="25400" dir="5400000">
              <a:srgbClr val="000000">
                <a:alpha val="10000"/>
              </a:srgbClr>
            </a:outerShdw>
          </a:effectLst>
        </p:spPr>
      </p:sp>
      <p:sp>
        <p:nvSpPr>
          <p:cNvPr id="14" name="Estación 3"/>
          <p:cNvSpPr/>
          <p:nvPr/>
        </p:nvSpPr>
        <p:spPr>
          <a:xfrm>
            <a:off x="868680" y="4251960"/>
            <a:ext cx="292608" cy="292608"/>
          </a:xfrm>
          <a:prstGeom prst="ellipse">
            <a:avLst/>
          </a:prstGeom>
          <a:solidFill>
            <a:schemeClr val="accent4"/>
          </a:solidFill>
          <a:ln w="38100">
            <a:solidFill>
              <a:schemeClr val="accent4"/>
            </a:solidFill>
            <a:prstDash val="solid"/>
          </a:ln>
        </p:spPr>
      </p:sp>
      <p:sp>
        <p:nvSpPr>
          <p:cNvPr id="15" name="Riel 3"/>
          <p:cNvSpPr/>
          <p:nvPr/>
        </p:nvSpPr>
        <p:spPr>
          <a:xfrm>
            <a:off x="978408" y="4809744"/>
            <a:ext cx="73152" cy="347472"/>
          </a:xfrm>
          <a:prstGeom prst="roundRect">
            <a:avLst>
              <a:gd name="adj" fmla="val 50000"/>
            </a:avLst>
          </a:prstGeom>
          <a:solidFill>
            <a:schemeClr val="accent4"/>
          </a:solidFill>
          <a:ln w="12700">
            <a:solidFill>
              <a:schemeClr val="accent4"/>
            </a:solidFill>
            <a:prstDash val="solid"/>
          </a:ln>
        </p:spPr>
      </p:sp>
      <p:sp>
        <p:nvSpPr>
          <p:cNvPr id="16" name="Fecha 3"/>
          <p:cNvSpPr txBox="1"/>
          <p:nvPr/>
        </p:nvSpPr>
        <p:spPr>
          <a:xfrm>
            <a:off x="1554480" y="4059936"/>
            <a:ext cx="3657600" cy="329184"/>
          </a:xfrm>
          <a:prstGeom prst="rect">
            <a:avLst/>
          </a:prstGeom>
          <a:noFill/>
          <a:ln/>
        </p:spPr>
        <p:txBody>
          <a:bodyPr wrap="square" lIns="0" tIns="0" rIns="0" bIns="0" rtlCol="0" anchor="t"/>
          <a:lstStyle/>
          <a:p>
            <a:pPr indent="0" marL="0">
              <a:buNone/>
            </a:pPr>
            <a:r>
              <a:rPr lang="en-US" sz="1800" b="1" dirty="0">
                <a:solidFill>
                  <a:schemeClr val="tx1"/>
                </a:solidFill>
              </a:rPr>
              <a:t>Sprint 4 · 23 nov – 4 dic</a:t>
            </a:r>
            <a:endParaRPr lang="en-US" sz="1800" dirty="0"/>
          </a:p>
        </p:txBody>
      </p:sp>
      <p:sp>
        <p:nvSpPr>
          <p:cNvPr id="17" name="Meta 3"/>
          <p:cNvSpPr txBox="1"/>
          <p:nvPr/>
        </p:nvSpPr>
        <p:spPr>
          <a:xfrm>
            <a:off x="1554480" y="4425696"/>
            <a:ext cx="9692640" cy="365760"/>
          </a:xfrm>
          <a:prstGeom prst="rect">
            <a:avLst/>
          </a:prstGeom>
          <a:noFill/>
          <a:ln/>
        </p:spPr>
        <p:txBody>
          <a:bodyPr wrap="square" lIns="0" tIns="0" rIns="0" bIns="0" rtlCol="0" anchor="t"/>
          <a:lstStyle/>
          <a:p>
            <a:pPr indent="0" marL="0">
              <a:buNone/>
            </a:pPr>
            <a:r>
              <a:rPr lang="en-US" sz="1600" dirty="0">
                <a:solidFill>
                  <a:schemeClr val="tx2"/>
                </a:solidFill>
              </a:rPr>
              <a:t>Outbox, suscripciones por webhook, carga y entrega final</a:t>
            </a:r>
            <a:endParaRPr lang="en-US" sz="1600" dirty="0"/>
          </a:p>
        </p:txBody>
      </p:sp>
      <p:sp>
        <p:nvSpPr>
          <p:cNvPr id="18" name="Paso 4"/>
          <p:cNvSpPr/>
          <p:nvPr/>
        </p:nvSpPr>
        <p:spPr>
          <a:xfrm>
            <a:off x="548640" y="5065776"/>
            <a:ext cx="11064240" cy="1005840"/>
          </a:xfrm>
          <a:prstGeom prst="roundRect">
            <a:avLst>
              <a:gd name="adj" fmla="val 10909"/>
            </a:avLst>
          </a:prstGeom>
          <a:solidFill>
            <a:schemeClr val="bg2"/>
          </a:solidFill>
          <a:ln w="6350">
            <a:solidFill>
              <a:schemeClr val="bg1"/>
            </a:solidFill>
            <a:prstDash val="solid"/>
          </a:ln>
          <a:effectLst>
            <a:outerShdw sx="100000" sy="100000" kx="0" ky="0" algn="bl" rotWithShape="0" blurRad="76200" dist="25400" dir="5400000">
              <a:srgbClr val="000000">
                <a:alpha val="10000"/>
              </a:srgbClr>
            </a:outerShdw>
          </a:effectLst>
        </p:spPr>
      </p:sp>
      <p:sp>
        <p:nvSpPr>
          <p:cNvPr id="19" name="Estación 4"/>
          <p:cNvSpPr/>
          <p:nvPr/>
        </p:nvSpPr>
        <p:spPr>
          <a:xfrm>
            <a:off x="868680" y="5422392"/>
            <a:ext cx="292608" cy="292608"/>
          </a:xfrm>
          <a:prstGeom prst="ellipse">
            <a:avLst/>
          </a:prstGeom>
          <a:solidFill>
            <a:schemeClr val="accent1"/>
          </a:solidFill>
          <a:ln w="38100">
            <a:solidFill>
              <a:schemeClr val="accent1"/>
            </a:solidFill>
            <a:prstDash val="solid"/>
          </a:ln>
        </p:spPr>
      </p:sp>
      <p:sp>
        <p:nvSpPr>
          <p:cNvPr id="20" name="Fecha 4"/>
          <p:cNvSpPr txBox="1"/>
          <p:nvPr/>
        </p:nvSpPr>
        <p:spPr>
          <a:xfrm>
            <a:off x="1554480" y="5230368"/>
            <a:ext cx="3657600" cy="329184"/>
          </a:xfrm>
          <a:prstGeom prst="rect">
            <a:avLst/>
          </a:prstGeom>
          <a:noFill/>
          <a:ln/>
        </p:spPr>
        <p:txBody>
          <a:bodyPr wrap="square" lIns="0" tIns="0" rIns="0" bIns="0" rtlCol="0" anchor="t"/>
          <a:lstStyle/>
          <a:p>
            <a:pPr indent="0" marL="0">
              <a:buNone/>
            </a:pPr>
            <a:r>
              <a:rPr lang="en-US" sz="1800" b="1" dirty="0">
                <a:solidFill>
                  <a:schemeClr val="tx1"/>
                </a:solidFill>
              </a:rPr>
              <a:t>Open source</a:t>
            </a:r>
            <a:endParaRPr lang="en-US" sz="1800" dirty="0"/>
          </a:p>
        </p:txBody>
      </p:sp>
      <p:sp>
        <p:nvSpPr>
          <p:cNvPr id="21" name="Meta 4"/>
          <p:cNvSpPr txBox="1"/>
          <p:nvPr/>
        </p:nvSpPr>
        <p:spPr>
          <a:xfrm>
            <a:off x="1554480" y="5596128"/>
            <a:ext cx="9692640" cy="365760"/>
          </a:xfrm>
          <a:prstGeom prst="rect">
            <a:avLst/>
          </a:prstGeom>
          <a:noFill/>
          <a:ln/>
        </p:spPr>
        <p:txBody>
          <a:bodyPr wrap="square" lIns="0" tIns="0" rIns="0" bIns="0" rtlCol="0" anchor="t"/>
          <a:lstStyle/>
          <a:p>
            <a:pPr indent="0" marL="0">
              <a:buNone/>
            </a:pPr>
            <a:r>
              <a:rPr lang="en-US" sz="1600" dirty="0">
                <a:solidFill>
                  <a:schemeClr val="tx2"/>
                </a:solidFill>
              </a:rPr>
              <a:t>Hacer público el repositorio y publicar los paquetes en npm</a:t>
            </a:r>
            <a:endParaRPr lang="en-US" sz="1600" dirty="0"/>
          </a:p>
        </p:txBody>
      </p:sp>
      <p:sp>
        <p:nvSpPr>
          <p:cNvPr id="25" name="Slide Number Placeholder 0"/>
          <p:cNvSpPr>
            <a:spLocks noGrp="1"/>
          </p:cNvSpPr>
          <p:nvPr>
            <p:ph type="sldNum" sz="quarter" idx="4294967295"/>
          </p:nvPr>
        </p:nvSpPr>
        <p:spPr>
          <a:xfrm>
            <a:off x="11064240" y="641908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Logo de NotifyHub">    </p:cNvPr>
          <p:cNvPicPr>
            <a:picLocks noChangeAspect="1"/>
          </p:cNvPicPr>
          <p:nvPr/>
        </p:nvPicPr>
        <p:blipFill>
          <a:blip r:embed="rId1"/>
          <a:stretch>
            <a:fillRect/>
          </a:stretch>
        </p:blipFill>
        <p:spPr>
          <a:xfrm>
            <a:off x="731520" y="1188720"/>
            <a:ext cx="1097280" cy="1097280"/>
          </a:xfrm>
          <a:prstGeom prst="rect">
            <a:avLst/>
          </a:prstGeom>
        </p:spPr>
      </p:pic>
      <p:sp>
        <p:nvSpPr>
          <p:cNvPr id="3" name="Gracias"/>
          <p:cNvSpPr txBox="1"/>
          <p:nvPr/>
        </p:nvSpPr>
        <p:spPr>
          <a:xfrm>
            <a:off x="731520" y="2514600"/>
            <a:ext cx="7315200" cy="1005840"/>
          </a:xfrm>
          <a:prstGeom prst="rect">
            <a:avLst/>
          </a:prstGeom>
          <a:noFill/>
          <a:ln/>
        </p:spPr>
        <p:txBody>
          <a:bodyPr wrap="square" lIns="0" tIns="0" rIns="0" bIns="0" rtlCol="0" anchor="t"/>
          <a:lstStyle/>
          <a:p>
            <a:pPr indent="0" marL="0">
              <a:buNone/>
            </a:pPr>
            <a:r>
              <a:rPr lang="en-US" sz="6000" b="1" dirty="0">
                <a:solidFill>
                  <a:schemeClr val="bg1"/>
                </a:solidFill>
                <a:latin typeface="Arial" pitchFamily="34" charset="0"/>
                <a:ea typeface="Arial" pitchFamily="34" charset="-122"/>
                <a:cs typeface="Arial" pitchFamily="34" charset="-120"/>
              </a:rPr>
              <a:t>Gracias</a:t>
            </a:r>
            <a:endParaRPr lang="en-US" sz="6000" dirty="0"/>
          </a:p>
        </p:txBody>
      </p:sp>
      <p:sp>
        <p:nvSpPr>
          <p:cNvPr id="4" name="Preguntas"/>
          <p:cNvSpPr txBox="1"/>
          <p:nvPr/>
        </p:nvSpPr>
        <p:spPr>
          <a:xfrm>
            <a:off x="731520" y="3566160"/>
            <a:ext cx="7315200" cy="640080"/>
          </a:xfrm>
          <a:prstGeom prst="rect">
            <a:avLst/>
          </a:prstGeom>
          <a:noFill/>
          <a:ln/>
        </p:spPr>
        <p:txBody>
          <a:bodyPr wrap="square" lIns="0" tIns="0" rIns="0" bIns="0" rtlCol="0" anchor="t"/>
          <a:lstStyle/>
          <a:p>
            <a:pPr indent="0" marL="0">
              <a:buNone/>
            </a:pPr>
            <a:r>
              <a:rPr lang="en-US" sz="3200" dirty="0">
                <a:solidFill>
                  <a:schemeClr val="accent1"/>
                </a:solidFill>
              </a:rPr>
              <a:t>¿Preguntas?</a:t>
            </a:r>
            <a:endParaRPr lang="en-US" sz="3200" dirty="0"/>
          </a:p>
        </p:txBody>
      </p:sp>
      <p:sp>
        <p:nvSpPr>
          <p:cNvPr id="5" name="Equipo"/>
          <p:cNvSpPr txBox="1"/>
          <p:nvPr/>
        </p:nvSpPr>
        <p:spPr>
          <a:xfrm>
            <a:off x="731520" y="4754880"/>
            <a:ext cx="7315200" cy="822960"/>
          </a:xfrm>
          <a:prstGeom prst="rect">
            <a:avLst/>
          </a:prstGeom>
          <a:noFill/>
          <a:ln/>
        </p:spPr>
        <p:txBody>
          <a:bodyPr wrap="square" lIns="0" tIns="0" rIns="0" bIns="0" rtlCol="0" anchor="t"/>
          <a:lstStyle/>
          <a:p>
            <a:pPr indent="0" marL="0">
              <a:buNone/>
            </a:pPr>
            <a:r>
              <a:rPr lang="en-US" sz="2000" dirty="0">
                <a:solidFill>
                  <a:schemeClr val="bg1"/>
                </a:solidFill>
              </a:rPr>
              <a:t>Andreea Margarita Maldonado Morales</a:t>
            </a:r>
            <a:endParaRPr lang="en-US" sz="2000" dirty="0"/>
          </a:p>
          <a:p>
            <a:pPr indent="0" marL="0">
              <a:buNone/>
            </a:pPr>
            <a:r>
              <a:rPr lang="en-US" sz="2000" dirty="0">
                <a:solidFill>
                  <a:schemeClr val="bg1"/>
                </a:solidFill>
              </a:rPr>
              <a:t>José Raúl Soriano Cazabal</a:t>
            </a:r>
            <a:endParaRPr lang="en-US" sz="2000" dirty="0"/>
          </a:p>
        </p:txBody>
      </p:sp>
      <p:sp>
        <p:nvSpPr>
          <p:cNvPr id="6" name="Licencia"/>
          <p:cNvSpPr txBox="1"/>
          <p:nvPr/>
        </p:nvSpPr>
        <p:spPr>
          <a:xfrm>
            <a:off x="731520" y="5897880"/>
            <a:ext cx="7315200" cy="365760"/>
          </a:xfrm>
          <a:prstGeom prst="rect">
            <a:avLst/>
          </a:prstGeom>
          <a:noFill/>
          <a:ln/>
        </p:spPr>
        <p:txBody>
          <a:bodyPr wrap="square" lIns="0" tIns="0" rIns="0" bIns="0" rtlCol="0" anchor="t"/>
          <a:lstStyle/>
          <a:p>
            <a:pPr indent="0" marL="0">
              <a:buNone/>
            </a:pPr>
            <a:r>
              <a:rPr lang="en-US" sz="1600" dirty="0">
                <a:solidFill>
                  <a:schemeClr val="bg1"/>
                </a:solidFill>
              </a:rPr>
              <a:t>NotifyHub · Código abierto bajo licencia MIT</a:t>
            </a:r>
            <a:endParaRPr lang="en-US" sz="1600" dirty="0"/>
          </a:p>
        </p:txBody>
      </p:sp>
      <p:sp>
        <p:nvSpPr>
          <p:cNvPr id="7" name="Línea Email"/>
          <p:cNvSpPr/>
          <p:nvPr/>
        </p:nvSpPr>
        <p:spPr>
          <a:xfrm>
            <a:off x="8595360" y="2148840"/>
            <a:ext cx="2926080" cy="91440"/>
          </a:xfrm>
          <a:prstGeom prst="roundRect">
            <a:avLst>
              <a:gd name="adj" fmla="val 50000"/>
            </a:avLst>
          </a:prstGeom>
          <a:solidFill>
            <a:schemeClr val="accent2"/>
          </a:solidFill>
          <a:ln w="12700">
            <a:solidFill>
              <a:schemeClr val="accent2"/>
            </a:solidFill>
            <a:prstDash val="solid"/>
          </a:ln>
        </p:spPr>
      </p:sp>
      <p:sp>
        <p:nvSpPr>
          <p:cNvPr id="8" name="Destino Email"/>
          <p:cNvSpPr/>
          <p:nvPr/>
        </p:nvSpPr>
        <p:spPr>
          <a:xfrm>
            <a:off x="11393424" y="2066544"/>
            <a:ext cx="256032" cy="256032"/>
          </a:xfrm>
          <a:prstGeom prst="ellipse">
            <a:avLst/>
          </a:prstGeom>
          <a:solidFill>
            <a:schemeClr val="tx1"/>
          </a:solidFill>
          <a:ln w="38100">
            <a:solidFill>
              <a:schemeClr val="accent2"/>
            </a:solidFill>
            <a:prstDash val="solid"/>
          </a:ln>
        </p:spPr>
      </p:sp>
      <p:sp>
        <p:nvSpPr>
          <p:cNvPr id="9" name="Línea SMS"/>
          <p:cNvSpPr/>
          <p:nvPr/>
        </p:nvSpPr>
        <p:spPr>
          <a:xfrm>
            <a:off x="8595360" y="3108960"/>
            <a:ext cx="2926080" cy="91440"/>
          </a:xfrm>
          <a:prstGeom prst="roundRect">
            <a:avLst>
              <a:gd name="adj" fmla="val 50000"/>
            </a:avLst>
          </a:prstGeom>
          <a:solidFill>
            <a:schemeClr val="accent3"/>
          </a:solidFill>
          <a:ln w="12700">
            <a:solidFill>
              <a:schemeClr val="accent3"/>
            </a:solidFill>
            <a:prstDash val="solid"/>
          </a:ln>
        </p:spPr>
      </p:sp>
      <p:sp>
        <p:nvSpPr>
          <p:cNvPr id="10" name="Destino SMS"/>
          <p:cNvSpPr/>
          <p:nvPr/>
        </p:nvSpPr>
        <p:spPr>
          <a:xfrm>
            <a:off x="11393424" y="3026664"/>
            <a:ext cx="256032" cy="256032"/>
          </a:xfrm>
          <a:prstGeom prst="ellipse">
            <a:avLst/>
          </a:prstGeom>
          <a:solidFill>
            <a:schemeClr val="tx1"/>
          </a:solidFill>
          <a:ln w="38100">
            <a:solidFill>
              <a:schemeClr val="accent3"/>
            </a:solidFill>
            <a:prstDash val="solid"/>
          </a:ln>
        </p:spPr>
      </p:sp>
      <p:sp>
        <p:nvSpPr>
          <p:cNvPr id="11" name="Línea Push"/>
          <p:cNvSpPr/>
          <p:nvPr/>
        </p:nvSpPr>
        <p:spPr>
          <a:xfrm>
            <a:off x="8595360" y="4069080"/>
            <a:ext cx="2926080" cy="91440"/>
          </a:xfrm>
          <a:prstGeom prst="roundRect">
            <a:avLst>
              <a:gd name="adj" fmla="val 50000"/>
            </a:avLst>
          </a:prstGeom>
          <a:solidFill>
            <a:schemeClr val="accent4"/>
          </a:solidFill>
          <a:ln w="12700">
            <a:solidFill>
              <a:schemeClr val="accent4"/>
            </a:solidFill>
            <a:prstDash val="solid"/>
          </a:ln>
        </p:spPr>
      </p:sp>
      <p:sp>
        <p:nvSpPr>
          <p:cNvPr id="12" name="Destino Push"/>
          <p:cNvSpPr/>
          <p:nvPr/>
        </p:nvSpPr>
        <p:spPr>
          <a:xfrm>
            <a:off x="11393424" y="3986784"/>
            <a:ext cx="256032" cy="256032"/>
          </a:xfrm>
          <a:prstGeom prst="ellipse">
            <a:avLst/>
          </a:prstGeom>
          <a:solidFill>
            <a:schemeClr val="tx1"/>
          </a:solidFill>
          <a:ln w="38100">
            <a:solidFill>
              <a:schemeClr val="accent4"/>
            </a:solidFill>
            <a:prstDash val="solid"/>
          </a:ln>
        </p:spPr>
      </p:sp>
      <p:sp>
        <p:nvSpPr>
          <p:cNvPr id="13" name="Línea Webhook"/>
          <p:cNvSpPr/>
          <p:nvPr/>
        </p:nvSpPr>
        <p:spPr>
          <a:xfrm>
            <a:off x="8595360" y="5029200"/>
            <a:ext cx="2926080" cy="91440"/>
          </a:xfrm>
          <a:prstGeom prst="roundRect">
            <a:avLst>
              <a:gd name="adj" fmla="val 50000"/>
            </a:avLst>
          </a:prstGeom>
          <a:solidFill>
            <a:schemeClr val="accent5"/>
          </a:solidFill>
          <a:ln w="12700">
            <a:solidFill>
              <a:schemeClr val="accent5"/>
            </a:solidFill>
            <a:prstDash val="solid"/>
          </a:ln>
        </p:spPr>
      </p:sp>
      <p:sp>
        <p:nvSpPr>
          <p:cNvPr id="14" name="Destino Webhook"/>
          <p:cNvSpPr/>
          <p:nvPr/>
        </p:nvSpPr>
        <p:spPr>
          <a:xfrm>
            <a:off x="11393424" y="4946904"/>
            <a:ext cx="256032" cy="256032"/>
          </a:xfrm>
          <a:prstGeom prst="ellipse">
            <a:avLst/>
          </a:prstGeom>
          <a:solidFill>
            <a:schemeClr val="tx1"/>
          </a:solidFill>
          <a:ln w="38100">
            <a:solidFill>
              <a:schemeClr val="accent5"/>
            </a:solidFill>
            <a:prstDash val="solid"/>
          </a:ln>
        </p:spPr>
      </p:sp>
    </p:spTree>
  </p:cSld>
  <p:clrMapOvr>
    <a:masterClrMapping/>
  </p:clrMapOvr>
</p:sld>
</file>

<file path=ppt/theme/theme1.xml><?xml version="1.0" encoding="utf-8"?>
<a:theme xmlns:a="http://schemas.openxmlformats.org/drawingml/2006/main" name="NotifyHub">
  <a:themeElements>
    <a:clrScheme name="NotifyHub">
      <a:dk1>
        <a:srgbClr val="12151A"/>
      </a:dk1>
      <a:lt1>
        <a:srgbClr val="F3F2ED"/>
      </a:lt1>
      <a:dk2>
        <a:srgbClr val="4A4F57"/>
      </a:dk2>
      <a:lt2>
        <a:srgbClr val="FFFFFF"/>
      </a:lt2>
      <a:accent1>
        <a:srgbClr val="FF5A1F"/>
      </a:accent1>
      <a:accent2>
        <a:srgbClr val="1B5FE0"/>
      </a:accent2>
      <a:accent3>
        <a:srgbClr val="0E9F8E"/>
      </a:accent3>
      <a:accent4>
        <a:srgbClr val="D9A300"/>
      </a:accent4>
      <a:accent5>
        <a:srgbClr val="C2338A"/>
      </a:accent5>
      <a:accent6>
        <a:srgbClr val="137A4B"/>
      </a:accent6>
      <a:hlink>
        <a:srgbClr val="1B5FE0"/>
      </a:hlink>
      <a:folHlink>
        <a:srgbClr val="4A4F57"/>
      </a:folHlink>
    </a:clrScheme>
    <a:fontScheme name="NotifyHub">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NotifyHub · Tu mensaje siempre llega</dc:title>
  <dc:subject>Servicio de notificaciones multicanal con fallback</dc:subject>
  <dc:creator>Andreea Margarita Maldonado Morales y José Raúl Soriano Cazabal</dc:creator>
  <cp:lastModifiedBy>Andreea Margarita Maldonado Morales y José Raúl Soriano Cazabal</cp:lastModifiedBy>
  <cp:revision>1</cp:revision>
  <dcterms:created xsi:type="dcterms:W3CDTF">2026-10-21T03:48:33Z</dcterms:created>
  <dcterms:modified xsi:type="dcterms:W3CDTF">2026-10-21T03:48:33Z</dcterms:modified>
</cp:coreProperties>
</file>